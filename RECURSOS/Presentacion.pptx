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822960"/>
            <a:ext cx="1419606" cy="641908"/>
          </a:xfrm>
          <a:prstGeom prst="roundRect">
            <a:avLst>
              <a:gd name="adj" fmla="val 25000"/>
            </a:avLst>
          </a:prstGeom>
          <a:solidFill>
            <a:srgbClr val="0E1116"/>
          </a:solidFill>
          <a:ln w="37719">
            <a:solidFill>
              <a:srgbClr val="F5F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160955" y="1020470"/>
            <a:ext cx="111099" cy="246888"/>
          </a:xfrm>
          <a:prstGeom prst="roundRect">
            <a:avLst>
              <a:gd name="adj" fmla="val 40000"/>
            </a:avLst>
          </a:prstGeom>
          <a:solidFill>
            <a:srgbClr val="F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8383" y="915543"/>
            <a:ext cx="266948" cy="456742"/>
          </a:xfrm>
          <a:prstGeom prst="rect">
            <a:avLst/>
          </a:prstGeom>
          <a:solidFill>
            <a:srgbClr val="7BC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0880" y="915543"/>
            <a:ext cx="266948" cy="456742"/>
          </a:xfrm>
          <a:prstGeom prst="rect">
            <a:avLst/>
          </a:prstGeom>
          <a:solidFill>
            <a:srgbClr val="C9C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3377" y="915543"/>
            <a:ext cx="266948" cy="456742"/>
          </a:xfrm>
          <a:prstGeom prst="rect">
            <a:avLst/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745874" y="915543"/>
            <a:ext cx="266948" cy="456742"/>
          </a:xfrm>
          <a:prstGeom prst="rect">
            <a:avLst/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77440" y="786384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F5F0E8"/>
                </a:solidFill>
                <a:latin typeface="Segoe UI"/>
              </a:rPr>
              <a:t>Pilas</a:t>
            </a:r>
            <a:r>
              <a:rPr sz="4000" b="1">
                <a:solidFill>
                  <a:srgbClr val="FF5A36"/>
                </a:solidFill>
                <a:latin typeface="Segoe UI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331720"/>
            <a:ext cx="108200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5A36"/>
                </a:solidFill>
                <a:latin typeface="Segoe UI"/>
              </a:rPr>
              <a:t>DATOS AL ECOSISTEMA 2026 · MINTIC  —  PROYECTO INTERMEDIO 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743200"/>
            <a:ext cx="10820095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000" b="1">
                <a:solidFill>
                  <a:srgbClr val="F5F0E8"/>
                </a:solidFill>
                <a:latin typeface="Segoe UI"/>
              </a:rPr>
              <a:t>Seguridad predictiva para Cali: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000" b="1">
                <a:solidFill>
                  <a:srgbClr val="F5F0E8"/>
                </a:solidFill>
                <a:latin typeface="Segoe UI"/>
              </a:rPr>
              <a:t>datos abiertos convertidos en prevención.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>
                <a:solidFill>
                  <a:srgbClr val="9D9B98"/>
                </a:solidFill>
                <a:latin typeface="Segoe UI"/>
              </a:rPr>
              <a:t>Riesgo de hurto por comuna y hora — XGBoost sobre ~219.000 incidentes reales (2010–2026) — app ciudadana + centro de mando gubernamental.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486400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F5F0E8"/>
                </a:solidFill>
                <a:latin typeface="Segoe UI"/>
              </a:rPr>
              <a:t>Catherine Nicol Ortega   ·   Zharick Valeria Fernandez   ·   Santiago Ruiz Vanegas   ·   Juan Felipe Delgado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5E5D5C"/>
                </a:solidFill>
                <a:latin typeface="Segoe UI"/>
              </a:rPr>
              <a:t>Santiago de Cali · Julio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5A36"/>
                </a:solidFill>
                <a:latin typeface="Segoe UI"/>
              </a:rPr>
              <a:t>EL PROBLEMA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8200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F5F0E8"/>
                </a:solidFill>
                <a:latin typeface="Segoe UI"/>
              </a:rPr>
              <a:t>Los datos abiertos de seguridad existen, pero no son accionables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286000"/>
            <a:ext cx="10820095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700" b="1">
                <a:solidFill>
                  <a:srgbClr val="FF5A36"/>
                </a:solidFill>
                <a:latin typeface="Segoe UI"/>
              </a:rPr>
              <a:t>—  </a:t>
            </a:r>
            <a:r>
              <a:rPr sz="1700" b="1">
                <a:solidFill>
                  <a:srgbClr val="F5F0E8"/>
                </a:solidFill>
                <a:latin typeface="Segoe UI"/>
              </a:rPr>
              <a:t>Cali publica sus cifras.  </a:t>
            </a:r>
            <a:r>
              <a:rPr sz="1600" b="0">
                <a:solidFill>
                  <a:srgbClr val="9D9B98"/>
                </a:solidFill>
                <a:latin typeface="Segoe UI"/>
              </a:rPr>
              <a:t>datos.gov.co, Alcaldía y Policía liberan cientos de miles de registros de hurtos, violencia intrafamiliar y de género.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700" b="1">
                <a:solidFill>
                  <a:srgbClr val="FF5A36"/>
                </a:solidFill>
                <a:latin typeface="Segoe UI"/>
              </a:rPr>
              <a:t>—  </a:t>
            </a:r>
            <a:r>
              <a:rPr sz="1700" b="1">
                <a:solidFill>
                  <a:srgbClr val="F5F0E8"/>
                </a:solidFill>
                <a:latin typeface="Segoe UI"/>
              </a:rPr>
              <a:t>Pero llegan como Excel crudos.  </a:t>
            </a:r>
            <a:r>
              <a:rPr sz="1600" b="0">
                <a:solidFill>
                  <a:srgbClr val="9D9B98"/>
                </a:solidFill>
                <a:latin typeface="Segoe UI"/>
              </a:rPr>
              <a:t>un ciudadano o un turista no puede convertirlos en la decisión que necesita: ¿por dónde camino?, ¿a qué hora?, ¿dónde tomo transporte?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700" b="1">
                <a:solidFill>
                  <a:srgbClr val="FF5A36"/>
                </a:solidFill>
                <a:latin typeface="Segoe UI"/>
              </a:rPr>
              <a:t>—  </a:t>
            </a:r>
            <a:r>
              <a:rPr sz="1700" b="1">
                <a:solidFill>
                  <a:srgbClr val="F5F0E8"/>
                </a:solidFill>
                <a:latin typeface="Segoe UI"/>
              </a:rPr>
              <a:t>Y la autoridad decide a ciegas.  </a:t>
            </a:r>
            <a:r>
              <a:rPr sz="1600" b="0">
                <a:solidFill>
                  <a:srgbClr val="9D9B98"/>
                </a:solidFill>
                <a:latin typeface="Segoe UI"/>
              </a:rPr>
              <a:t>la Secretaría de Seguridad asigna patrullas sin una estimación fina de riesgo por zona y franja horaria.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4892040"/>
            <a:ext cx="10820095" cy="1143000"/>
          </a:xfrm>
          <a:prstGeom prst="roundRect">
            <a:avLst>
              <a:gd name="adj" fmla="val 10000"/>
            </a:avLst>
          </a:prstGeom>
          <a:solidFill>
            <a:srgbClr val="17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5074920"/>
            <a:ext cx="101800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1">
                <a:solidFill>
                  <a:srgbClr val="FF5A36"/>
                </a:solidFill>
                <a:latin typeface="Segoe UI"/>
              </a:rPr>
              <a:t>Pregunta de investigación:  </a:t>
            </a:r>
            <a:r>
              <a:rPr sz="1500" b="0">
                <a:solidFill>
                  <a:srgbClr val="F5F0E8"/>
                </a:solidFill>
                <a:latin typeface="Segoe UI"/>
              </a:rPr>
              <a:t>¿pueden los datos abiertos históricos estimar el riesgo de hurto por comuna y franja horaria en Cali, con poder predictivo suficiente para orientar decisiones preventivas?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9D9B98"/>
                </a:solidFill>
                <a:latin typeface="Segoe UI"/>
              </a:rPr>
              <a:t>Pilas</a:t>
            </a:r>
            <a:r>
              <a:rPr sz="1100" b="0">
                <a:solidFill>
                  <a:srgbClr val="5E5D5C"/>
                </a:solidFill>
                <a:latin typeface="Segoe UI"/>
              </a:rPr>
              <a:t>  ·  Datos al Ecosistema 2026 — MinTIC  ·  Cali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91495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5E5D5C"/>
                </a:solidFill>
                <a:latin typeface="Segoe U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5A36"/>
                </a:solidFill>
                <a:latin typeface="Segoe UI"/>
              </a:rPr>
              <a:t>LA SOLUCIÓN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8200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F5F0E8"/>
                </a:solidFill>
                <a:latin typeface="Segoe UI"/>
              </a:rPr>
              <a:t>Pilas: una plataforma, dos caras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783080"/>
            <a:ext cx="5272887" cy="2834640"/>
          </a:xfrm>
          <a:prstGeom prst="roundRect">
            <a:avLst>
              <a:gd name="adj" fmla="val 6000"/>
            </a:avLst>
          </a:prstGeom>
          <a:solidFill>
            <a:srgbClr val="17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011680"/>
            <a:ext cx="47242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FF5A36"/>
                </a:solidFill>
                <a:latin typeface="Segoe UI"/>
              </a:rPr>
              <a:t>App ciudadana  ·  ciudadano.html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514600"/>
            <a:ext cx="4724247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5E5D5C"/>
                </a:solidFill>
                <a:latin typeface="Segoe UI"/>
              </a:rPr>
              <a:t>—  </a:t>
            </a:r>
            <a:r>
              <a:rPr sz="1400" b="0">
                <a:solidFill>
                  <a:srgbClr val="F5F0E8"/>
                </a:solidFill>
                <a:latin typeface="Segoe UI"/>
              </a:rPr>
              <a:t>Mapa de atención por hora (hexágonos H3 sobre las 22 comunas)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5E5D5C"/>
                </a:solidFill>
                <a:latin typeface="Segoe UI"/>
              </a:rPr>
              <a:t>—  </a:t>
            </a:r>
            <a:r>
              <a:rPr sz="1400" b="0">
                <a:solidFill>
                  <a:srgbClr val="F5F0E8"/>
                </a:solidFill>
                <a:latin typeface="Segoe UI"/>
              </a:rPr>
              <a:t>Ruta segura, pulso de la ciudad y reportes ciudadanos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5E5D5C"/>
                </a:solidFill>
                <a:latin typeface="Segoe UI"/>
              </a:rPr>
              <a:t>—  </a:t>
            </a:r>
            <a:r>
              <a:rPr sz="1400" b="0">
                <a:solidFill>
                  <a:srgbClr val="F5F0E8"/>
                </a:solidFill>
                <a:latin typeface="Segoe UI"/>
              </a:rPr>
              <a:t>Modo turista: clima, vuelos, MIO, taxi seguro, sitios e inglés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3007" y="1783080"/>
            <a:ext cx="5272887" cy="2834640"/>
          </a:xfrm>
          <a:prstGeom prst="roundRect">
            <a:avLst>
              <a:gd name="adj" fmla="val 6000"/>
            </a:avLst>
          </a:prstGeom>
          <a:solidFill>
            <a:srgbClr val="17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07327" y="2011680"/>
            <a:ext cx="47242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FF5A36"/>
                </a:solidFill>
                <a:latin typeface="Segoe UI"/>
              </a:rPr>
              <a:t>Centro de mando  ·  gobierno.html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07327" y="2514600"/>
            <a:ext cx="4724247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5E5D5C"/>
                </a:solidFill>
                <a:latin typeface="Segoe UI"/>
              </a:rPr>
              <a:t>—  </a:t>
            </a:r>
            <a:r>
              <a:rPr sz="1400" b="0">
                <a:solidFill>
                  <a:srgbClr val="F5F0E8"/>
                </a:solidFill>
                <a:latin typeface="Segoe UI"/>
              </a:rPr>
              <a:t>6 KPIs estratégicos con tendencia y alertas accionables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5E5D5C"/>
                </a:solidFill>
                <a:latin typeface="Segoe UI"/>
              </a:rPr>
              <a:t>—  </a:t>
            </a:r>
            <a:r>
              <a:rPr sz="1400" b="0">
                <a:solidFill>
                  <a:srgbClr val="F5F0E8"/>
                </a:solidFill>
                <a:latin typeface="Segoe UI"/>
              </a:rPr>
              <a:t>Series por delito (90 días) y tabla de comunas con tasas /100k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5E5D5C"/>
                </a:solidFill>
                <a:latin typeface="Segoe UI"/>
              </a:rPr>
              <a:t>—  </a:t>
            </a:r>
            <a:r>
              <a:rPr sz="1400" b="0">
                <a:solidFill>
                  <a:srgbClr val="F5F0E8"/>
                </a:solidFill>
                <a:latin typeface="Segoe UI"/>
              </a:rPr>
              <a:t>Recomendación de patrullas por CAI y briefing con IA explicable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983480"/>
            <a:ext cx="108200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1">
                <a:solidFill>
                  <a:srgbClr val="F5F0E8"/>
                </a:solidFill>
                <a:latin typeface="Segoe UI"/>
              </a:rPr>
              <a:t>Comunicación no estigmatizante:  </a:t>
            </a:r>
            <a:r>
              <a:rPr sz="1500" b="0">
                <a:solidFill>
                  <a:srgbClr val="9D9B98"/>
                </a:solidFill>
                <a:latin typeface="Segoe UI"/>
              </a:rPr>
              <a:t>la metáfora de batería 🔋 — Tranquilo · Atento · Pilas · Muy pilas — habla de nivel de atención, no de peligrosidad de la gente; sin rojo-peligro por defecto y con nota metodológica visible.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9D9B98"/>
                </a:solidFill>
                <a:latin typeface="Segoe UI"/>
              </a:rPr>
              <a:t>Pilas</a:t>
            </a:r>
            <a:r>
              <a:rPr sz="1100" b="0">
                <a:solidFill>
                  <a:srgbClr val="5E5D5C"/>
                </a:solidFill>
                <a:latin typeface="Segoe UI"/>
              </a:rPr>
              <a:t>  ·  Datos al Ecosistema 2026 — MinTIC  ·  Cali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91495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5E5D5C"/>
                </a:solidFill>
                <a:latin typeface="Segoe U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5A36"/>
                </a:solidFill>
                <a:latin typeface="Segoe UI"/>
              </a:rPr>
              <a:t>LOS 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8200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F5F0E8"/>
                </a:solidFill>
                <a:latin typeface="Segoe UI"/>
              </a:rPr>
              <a:t>Solo fuentes abiertas oficiales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2499283" cy="1600200"/>
          </a:xfrm>
          <a:prstGeom prst="roundRect">
            <a:avLst>
              <a:gd name="adj" fmla="val 8000"/>
            </a:avLst>
          </a:prstGeom>
          <a:solidFill>
            <a:srgbClr val="17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75687"/>
            <a:ext cx="2042083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FF5A36"/>
                </a:solidFill>
                <a:latin typeface="Segoe UI"/>
              </a:rPr>
              <a:t>219k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743199"/>
            <a:ext cx="2042083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F5F0E8"/>
                </a:solidFill>
                <a:latin typeface="Segoe UI"/>
              </a:rPr>
              <a:t>Hurtos 2010–2026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9D9B98"/>
                </a:solidFill>
                <a:latin typeface="Segoe UI"/>
              </a:rPr>
              <a:t>Secretaría / Alcaldía de Cali, con comuna, hora, modalidad y sitio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59403" y="1874519"/>
            <a:ext cx="2499283" cy="1600200"/>
          </a:xfrm>
          <a:prstGeom prst="roundRect">
            <a:avLst>
              <a:gd name="adj" fmla="val 8000"/>
            </a:avLst>
          </a:prstGeom>
          <a:solidFill>
            <a:srgbClr val="17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88003" y="2075687"/>
            <a:ext cx="2042083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FF5A36"/>
                </a:solidFill>
                <a:latin typeface="Segoe UI"/>
              </a:rPr>
              <a:t>62,8k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88003" y="2743199"/>
            <a:ext cx="2042083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F5F0E8"/>
                </a:solidFill>
                <a:latin typeface="Segoe UI"/>
              </a:rPr>
              <a:t>Violencia de género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9D9B98"/>
                </a:solidFill>
                <a:latin typeface="Segoe UI"/>
              </a:rPr>
              <a:t>Eventos en Cali 2013–2022 (datos.cali.gov.co)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6" y="1874519"/>
            <a:ext cx="2499283" cy="1600200"/>
          </a:xfrm>
          <a:prstGeom prst="roundRect">
            <a:avLst>
              <a:gd name="adj" fmla="val 8000"/>
            </a:avLst>
          </a:prstGeom>
          <a:solidFill>
            <a:srgbClr val="17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1606" y="2075687"/>
            <a:ext cx="2042083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FF5A36"/>
                </a:solidFill>
                <a:latin typeface="Segoe UI"/>
              </a:rPr>
              <a:t>52,4k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1606" y="2743199"/>
            <a:ext cx="2042083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F5F0E8"/>
                </a:solidFill>
                <a:latin typeface="Segoe UI"/>
              </a:rPr>
              <a:t>Violencia intrafamiliar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9D9B98"/>
                </a:solidFill>
                <a:latin typeface="Segoe UI"/>
              </a:rPr>
              <a:t>Casos de Cali 2003–2026 (MinDefensa · datos.gov.co)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06609" y="1874519"/>
            <a:ext cx="2499283" cy="1600200"/>
          </a:xfrm>
          <a:prstGeom prst="roundRect">
            <a:avLst>
              <a:gd name="adj" fmla="val 8000"/>
            </a:avLst>
          </a:prstGeom>
          <a:solidFill>
            <a:srgbClr val="17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209" y="2075687"/>
            <a:ext cx="2042083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FF5A36"/>
                </a:solidFill>
                <a:latin typeface="Segoe UI"/>
              </a:rPr>
              <a:t>22 · 339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209" y="2743199"/>
            <a:ext cx="2042083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F5F0E8"/>
                </a:solidFill>
                <a:latin typeface="Segoe UI"/>
              </a:rPr>
              <a:t>Comunas y barrios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9D9B98"/>
                </a:solidFill>
                <a:latin typeface="Segoe UI"/>
              </a:rPr>
              <a:t>Polígonos oficiales IDESC + 60 CAI + 45 servicios de salud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977639"/>
            <a:ext cx="10820095" cy="23317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500" b="1">
                <a:solidFill>
                  <a:srgbClr val="FF5A36"/>
                </a:solidFill>
                <a:latin typeface="Segoe UI"/>
              </a:rPr>
              <a:t>—  </a:t>
            </a:r>
            <a:r>
              <a:rPr sz="1500" b="1">
                <a:solidFill>
                  <a:srgbClr val="F5F0E8"/>
                </a:solidFill>
                <a:latin typeface="Segoe UI"/>
              </a:rPr>
              <a:t>Ciclo de vida versionado.  </a:t>
            </a:r>
            <a:r>
              <a:rPr sz="1400" b="0">
                <a:solidFill>
                  <a:srgbClr val="9D9B98"/>
                </a:solidFill>
                <a:latin typeface="Segoe UI"/>
              </a:rPr>
              <a:t>data/01_raw (Excel originales) → ingesta reproducible → data/03_primary (CSVs limpios) → data/04_model_output (predicciones).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500" b="1">
                <a:solidFill>
                  <a:srgbClr val="FF5A36"/>
                </a:solidFill>
                <a:latin typeface="Segoe UI"/>
              </a:rPr>
              <a:t>—  </a:t>
            </a:r>
            <a:r>
              <a:rPr sz="1500" b="1">
                <a:solidFill>
                  <a:srgbClr val="F5F0E8"/>
                </a:solidFill>
                <a:latin typeface="Segoe UI"/>
              </a:rPr>
              <a:t>Privacidad por diseño.  </a:t>
            </a:r>
            <a:r>
              <a:rPr sz="1400" b="0">
                <a:solidFill>
                  <a:srgbClr val="9D9B98"/>
                </a:solidFill>
                <a:latin typeface="Segoe UI"/>
              </a:rPr>
              <a:t>todo se agrega por comuna y franja horaria; nunca hay datos de personas.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500" b="1">
                <a:solidFill>
                  <a:srgbClr val="FF5A36"/>
                </a:solidFill>
                <a:latin typeface="Segoe UI"/>
              </a:rPr>
              <a:t>—  </a:t>
            </a:r>
            <a:r>
              <a:rPr sz="1500" b="1">
                <a:solidFill>
                  <a:srgbClr val="F5F0E8"/>
                </a:solidFill>
                <a:latin typeface="Segoe UI"/>
              </a:rPr>
              <a:t>Contexto del mapa.  </a:t>
            </a:r>
            <a:r>
              <a:rPr sz="1400" b="0">
                <a:solidFill>
                  <a:srgbClr val="9D9B98"/>
                </a:solidFill>
                <a:latin typeface="Segoe UI"/>
              </a:rPr>
              <a:t>sitios turísticos (Sec. Turismo), ríos (OSM), 88 estaciones del MIO, 396 bahías de taxi (DAPM) y población DAPM para tasas /100k.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9D9B98"/>
                </a:solidFill>
                <a:latin typeface="Segoe UI"/>
              </a:rPr>
              <a:t>Pilas</a:t>
            </a:r>
            <a:r>
              <a:rPr sz="1100" b="0">
                <a:solidFill>
                  <a:srgbClr val="5E5D5C"/>
                </a:solidFill>
                <a:latin typeface="Segoe UI"/>
              </a:rPr>
              <a:t>  ·  Datos al Ecosistema 2026 — MinTIC  ·  Cali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91495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5E5D5C"/>
                </a:solidFill>
                <a:latin typeface="Segoe U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5A36"/>
                </a:solidFill>
                <a:latin typeface="Segoe UI"/>
              </a:rPr>
              <a:t>METODOLOGÍA · CRISP-ML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8200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F5F0E8"/>
                </a:solidFill>
                <a:latin typeface="Segoe UI"/>
              </a:rPr>
              <a:t>Un pipeline reproducible de punta a punta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2533573" cy="2286000"/>
          </a:xfrm>
          <a:prstGeom prst="roundRect">
            <a:avLst>
              <a:gd name="adj" fmla="val 8000"/>
            </a:avLst>
          </a:prstGeom>
          <a:solidFill>
            <a:srgbClr val="17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54864" cy="2286000"/>
          </a:xfrm>
          <a:prstGeom prst="rect">
            <a:avLst/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2103120"/>
            <a:ext cx="207637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FF5A36"/>
                </a:solidFill>
                <a:latin typeface="Segoe UI"/>
              </a:rPr>
              <a:t>01 · Ingesta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606040"/>
            <a:ext cx="2076373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F5F0E8"/>
                </a:solidFill>
                <a:latin typeface="Segoe UI"/>
              </a:rPr>
              <a:t>Excel crudos → malla comuna × hora × día × mes (162k celdas) y catálogos limpios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47973" y="1874519"/>
            <a:ext cx="2533573" cy="2286000"/>
          </a:xfrm>
          <a:prstGeom prst="roundRect">
            <a:avLst>
              <a:gd name="adj" fmla="val 8000"/>
            </a:avLst>
          </a:prstGeom>
          <a:solidFill>
            <a:srgbClr val="17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47973" y="1874519"/>
            <a:ext cx="54864" cy="2286000"/>
          </a:xfrm>
          <a:prstGeom prst="rect">
            <a:avLst/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04005" y="2103120"/>
            <a:ext cx="207637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FF5A36"/>
                </a:solidFill>
                <a:latin typeface="Segoe UI"/>
              </a:rPr>
              <a:t>02 · Modelado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4005" y="2606040"/>
            <a:ext cx="2076373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F5F0E8"/>
                </a:solidFill>
                <a:latin typeface="Segoe UI"/>
              </a:rPr>
              <a:t>XGBoost Poisson con features de calendario; ceros materializados para aprender tasas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6" y="1874519"/>
            <a:ext cx="2533573" cy="2286000"/>
          </a:xfrm>
          <a:prstGeom prst="roundRect">
            <a:avLst>
              <a:gd name="adj" fmla="val 8000"/>
            </a:avLst>
          </a:prstGeom>
          <a:solidFill>
            <a:srgbClr val="17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0146" y="1874519"/>
            <a:ext cx="54864" cy="2286000"/>
          </a:xfrm>
          <a:prstGeom prst="rect">
            <a:avLst/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66178" y="2103120"/>
            <a:ext cx="207637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FF5A36"/>
                </a:solidFill>
                <a:latin typeface="Segoe UI"/>
              </a:rPr>
              <a:t>03 · Evaluación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6178" y="2606040"/>
            <a:ext cx="2076373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F5F0E8"/>
                </a:solidFill>
                <a:latin typeface="Segoe UI"/>
              </a:rPr>
              <a:t>split temporal 2010–2017 / 2018 — nada del futuro se filtra al entrenamiento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72319" y="1874519"/>
            <a:ext cx="2533573" cy="2286000"/>
          </a:xfrm>
          <a:prstGeom prst="roundRect">
            <a:avLst>
              <a:gd name="adj" fmla="val 8000"/>
            </a:avLst>
          </a:prstGeom>
          <a:solidFill>
            <a:srgbClr val="17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972319" y="1874519"/>
            <a:ext cx="54864" cy="2286000"/>
          </a:xfrm>
          <a:prstGeom prst="rect">
            <a:avLst/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28351" y="2103120"/>
            <a:ext cx="207637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FF5A36"/>
                </a:solidFill>
                <a:latin typeface="Segoe UI"/>
              </a:rPr>
              <a:t>04 · Servicio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8351" y="2606040"/>
            <a:ext cx="2076373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F5F0E8"/>
                </a:solidFill>
                <a:latin typeface="Segoe UI"/>
              </a:rPr>
              <a:t>FastAPI carga el artefacto y sirve /risk, /zones y /gov/* en vivo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572000"/>
            <a:ext cx="1082009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F5F0E8"/>
                </a:solidFill>
                <a:latin typeface="Segoe UI"/>
              </a:rPr>
              <a:t>Reproducible con un comando:  </a:t>
            </a:r>
            <a:r>
              <a:rPr sz="1500" b="1">
                <a:solidFill>
                  <a:srgbClr val="FFB454"/>
                </a:solidFill>
                <a:latin typeface="Consolas"/>
              </a:rPr>
              <a:t>python pipelines/pipeline_ml.py</a:t>
            </a:r>
            <a:r>
              <a:rPr sz="1500" b="0">
                <a:solidFill>
                  <a:srgbClr val="9D9B98"/>
                </a:solidFill>
                <a:latin typeface="Segoe UI"/>
              </a:rPr>
              <a:t>  regenera datos primarios, modelo y predicciones desde los Excel. 11 pruebas automatizadas (calidad de datos + consistencia de inferencia) corren en CI con GitHub Actions.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9D9B98"/>
                </a:solidFill>
                <a:latin typeface="Segoe UI"/>
              </a:rPr>
              <a:t>Pilas</a:t>
            </a:r>
            <a:r>
              <a:rPr sz="1100" b="0">
                <a:solidFill>
                  <a:srgbClr val="5E5D5C"/>
                </a:solidFill>
                <a:latin typeface="Segoe UI"/>
              </a:rPr>
              <a:t>  ·  Datos al Ecosistema 2026 — MinTIC  ·  Cali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91495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5E5D5C"/>
                </a:solidFill>
                <a:latin typeface="Segoe U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5A36"/>
                </a:solidFill>
                <a:latin typeface="Segoe UI"/>
              </a:rPr>
              <a:t>EL MODELO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8200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F5F0E8"/>
                </a:solidFill>
                <a:latin typeface="Segoe UI"/>
              </a:rPr>
              <a:t>XGBoost Poisson: tasa de incidentes por celda espacio-temporal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331720"/>
            <a:ext cx="10820095" cy="3977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600" b="1">
                <a:solidFill>
                  <a:srgbClr val="FF5A36"/>
                </a:solidFill>
                <a:latin typeface="Segoe UI"/>
              </a:rPr>
              <a:t>—  </a:t>
            </a:r>
            <a:r>
              <a:rPr sz="1600" b="1">
                <a:solidFill>
                  <a:srgbClr val="F5F0E8"/>
                </a:solidFill>
                <a:latin typeface="Segoe UI"/>
              </a:rPr>
              <a:t>Target.  </a:t>
            </a:r>
            <a:r>
              <a:rPr sz="1500" b="0">
                <a:solidFill>
                  <a:srgbClr val="9D9B98"/>
                </a:solidFill>
                <a:latin typeface="Segoe UI"/>
              </a:rPr>
              <a:t>conteo de hurtos por (comuna, hora, día de semana, mes, festivo) — regresión Poisson, no clasificación.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600" b="1">
                <a:solidFill>
                  <a:srgbClr val="FF5A36"/>
                </a:solidFill>
                <a:latin typeface="Segoe UI"/>
              </a:rPr>
              <a:t>—  </a:t>
            </a:r>
            <a:r>
              <a:rPr sz="1600" b="1">
                <a:solidFill>
                  <a:srgbClr val="F5F0E8"/>
                </a:solidFill>
                <a:latin typeface="Segoe UI"/>
              </a:rPr>
              <a:t>Features honestas y explicables.  </a:t>
            </a:r>
            <a:r>
              <a:rPr sz="1500" b="0">
                <a:solidFill>
                  <a:srgbClr val="9D9B98"/>
                </a:solidFill>
                <a:latin typeface="Segoe UI"/>
              </a:rPr>
              <a:t>comuna · hora y mes codificados como seno/coseno (la 23h es vecina de la 0h) · día de semana · fin de semana · festivo colombiano (Ley Emiliani).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600" b="1">
                <a:solidFill>
                  <a:srgbClr val="FF5A36"/>
                </a:solidFill>
                <a:latin typeface="Segoe UI"/>
              </a:rPr>
              <a:t>—  </a:t>
            </a:r>
            <a:r>
              <a:rPr sz="1600" b="1">
                <a:solidFill>
                  <a:srgbClr val="F5F0E8"/>
                </a:solidFill>
                <a:latin typeface="Segoe UI"/>
              </a:rPr>
              <a:t>Validación temporal estricta.  </a:t>
            </a:r>
            <a:r>
              <a:rPr sz="1500" b="0">
                <a:solidFill>
                  <a:srgbClr val="9D9B98"/>
                </a:solidFill>
                <a:latin typeface="Segoe UI"/>
              </a:rPr>
              <a:t>entrena 2010–2017, valida en 2018 completo; métricas guardadas en models/model_meta.json y expuestas en /metrics.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600" b="1">
                <a:solidFill>
                  <a:srgbClr val="FF5A36"/>
                </a:solidFill>
                <a:latin typeface="Segoe UI"/>
              </a:rPr>
              <a:t>—  </a:t>
            </a:r>
            <a:r>
              <a:rPr sz="1600" b="1">
                <a:solidFill>
                  <a:srgbClr val="F5F0E8"/>
                </a:solidFill>
                <a:latin typeface="Segoe UI"/>
              </a:rPr>
              <a:t>Riesgo comunicable.  </a:t>
            </a:r>
            <a:r>
              <a:rPr sz="1500" b="0">
                <a:solidFill>
                  <a:srgbClr val="9D9B98"/>
                </a:solidFill>
                <a:latin typeface="Segoe UI"/>
              </a:rPr>
              <a:t>la tasa se normaliza a 0–100 con percentiles de referencia (p5–p98) y se traduce a los 4 niveles de la batería.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9D9B98"/>
                </a:solidFill>
                <a:latin typeface="Segoe UI"/>
              </a:rPr>
              <a:t>Pilas</a:t>
            </a:r>
            <a:r>
              <a:rPr sz="1100" b="0">
                <a:solidFill>
                  <a:srgbClr val="5E5D5C"/>
                </a:solidFill>
                <a:latin typeface="Segoe UI"/>
              </a:rPr>
              <a:t>  ·  Datos al Ecosistema 2026 — MinTIC  ·  Cali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91495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5E5D5C"/>
                </a:solidFill>
                <a:latin typeface="Segoe U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5A36"/>
                </a:solidFill>
                <a:latin typeface="Segoe UI"/>
              </a:rPr>
              <a:t>RESULTADOS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8200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F5F0E8"/>
                </a:solidFill>
                <a:latin typeface="Segoe UI"/>
              </a:rPr>
              <a:t>El modelo encuentra el patrón real del riesgo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3423818" cy="1600200"/>
          </a:xfrm>
          <a:prstGeom prst="roundRect">
            <a:avLst>
              <a:gd name="adj" fmla="val 8000"/>
            </a:avLst>
          </a:prstGeom>
          <a:solidFill>
            <a:srgbClr val="17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75687"/>
            <a:ext cx="296661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FF5A36"/>
                </a:solidFill>
                <a:latin typeface="Segoe UI"/>
              </a:rPr>
              <a:t>0.73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743199"/>
            <a:ext cx="296661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F5F0E8"/>
                </a:solidFill>
                <a:latin typeface="Segoe UI"/>
              </a:rPr>
              <a:t>ROC-AUC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9D9B98"/>
                </a:solidFill>
                <a:latin typeface="Segoe UI"/>
              </a:rPr>
              <a:t>identificando celdas de alto riesgo en 2018 (año nunca visto)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3938" y="1874519"/>
            <a:ext cx="3423818" cy="1600200"/>
          </a:xfrm>
          <a:prstGeom prst="roundRect">
            <a:avLst>
              <a:gd name="adj" fmla="val 8000"/>
            </a:avLst>
          </a:prstGeom>
          <a:solidFill>
            <a:srgbClr val="17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2538" y="2075687"/>
            <a:ext cx="296661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FF5A36"/>
                </a:solidFill>
                <a:latin typeface="Segoe UI"/>
              </a:rPr>
              <a:t>0.41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2538" y="2743199"/>
            <a:ext cx="296661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F5F0E8"/>
                </a:solidFill>
                <a:latin typeface="Segoe UI"/>
              </a:rPr>
              <a:t>Precision@K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9D9B98"/>
                </a:solidFill>
                <a:latin typeface="Segoe UI"/>
              </a:rPr>
              <a:t>de las K celdas señaladas como más riesgosas, 41% lo fueron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82076" y="1874519"/>
            <a:ext cx="3423818" cy="1600200"/>
          </a:xfrm>
          <a:prstGeom prst="roundRect">
            <a:avLst>
              <a:gd name="adj" fmla="val 8000"/>
            </a:avLst>
          </a:prstGeom>
          <a:solidFill>
            <a:srgbClr val="17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2075687"/>
            <a:ext cx="296661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FF5A36"/>
                </a:solidFill>
                <a:latin typeface="Segoe UI"/>
              </a:rPr>
              <a:t>0.62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2743199"/>
            <a:ext cx="296661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F5F0E8"/>
                </a:solidFill>
                <a:latin typeface="Segoe UI"/>
              </a:rPr>
              <a:t>MAE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9D9B98"/>
                </a:solidFill>
                <a:latin typeface="Segoe UI"/>
              </a:rPr>
              <a:t>error absoluto medio del conteo por celda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977639"/>
            <a:ext cx="10820095" cy="23317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500" b="1">
                <a:solidFill>
                  <a:srgbClr val="FF5A36"/>
                </a:solidFill>
                <a:latin typeface="Segoe UI"/>
              </a:rPr>
              <a:t>—  </a:t>
            </a:r>
            <a:r>
              <a:rPr sz="1500" b="1">
                <a:solidFill>
                  <a:srgbClr val="F5F0E8"/>
                </a:solidFill>
                <a:latin typeface="Segoe UI"/>
              </a:rPr>
              <a:t>El riesgo no es plano.  </a:t>
            </a:r>
            <a:r>
              <a:rPr sz="1400" b="0">
                <a:solidFill>
                  <a:srgbClr val="9D9B98"/>
                </a:solidFill>
                <a:latin typeface="Segoe UI"/>
              </a:rPr>
              <a:t>varía más por hora y día que por mes: los picos se concentran en noches de viernes y sábado, con contrastes fuertes entre comunas.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500" b="1">
                <a:solidFill>
                  <a:srgbClr val="FF5A36"/>
                </a:solidFill>
                <a:latin typeface="Segoe UI"/>
              </a:rPr>
              <a:t>—  </a:t>
            </a:r>
            <a:r>
              <a:rPr sz="1500" b="1">
                <a:solidFill>
                  <a:srgbClr val="F5F0E8"/>
                </a:solidFill>
                <a:latin typeface="Segoe UI"/>
              </a:rPr>
              <a:t>SHAP confirma la intuición.  </a:t>
            </a:r>
            <a:r>
              <a:rPr sz="1400" b="0">
                <a:solidFill>
                  <a:srgbClr val="9D9B98"/>
                </a:solidFill>
                <a:latin typeface="Segoe UI"/>
              </a:rPr>
              <a:t>hora y comuna dominan la predicción; el modelo responde «¿por qué este riesgo?» en la propia app.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500" b="1">
                <a:solidFill>
                  <a:srgbClr val="FF5A36"/>
                </a:solidFill>
                <a:latin typeface="Segoe UI"/>
              </a:rPr>
              <a:t>—  </a:t>
            </a:r>
            <a:r>
              <a:rPr sz="1500" b="1">
                <a:solidFill>
                  <a:srgbClr val="F5F0E8"/>
                </a:solidFill>
                <a:latin typeface="Segoe UI"/>
              </a:rPr>
              <a:t>Predicción en vivo.  </a:t>
            </a:r>
            <a:r>
              <a:rPr sz="1400" b="0">
                <a:solidFill>
                  <a:srgbClr val="9D9B98"/>
                </a:solidFill>
                <a:latin typeface="Segoe UI"/>
              </a:rPr>
              <a:t>cada zona muestra su curva 24h y el mapa se recolorea con el scrubber de hora.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9D9B98"/>
                </a:solidFill>
                <a:latin typeface="Segoe UI"/>
              </a:rPr>
              <a:t>Pilas</a:t>
            </a:r>
            <a:r>
              <a:rPr sz="1100" b="0">
                <a:solidFill>
                  <a:srgbClr val="5E5D5C"/>
                </a:solidFill>
                <a:latin typeface="Segoe UI"/>
              </a:rPr>
              <a:t>  ·  Datos al Ecosistema 2026 — MinTIC  ·  Cali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91495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5E5D5C"/>
                </a:solidFill>
                <a:latin typeface="Segoe U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5A36"/>
                </a:solidFill>
                <a:latin typeface="Segoe UI"/>
              </a:rPr>
              <a:t>ARQUITECTURA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8200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F5F0E8"/>
                </a:solidFill>
                <a:latin typeface="Segoe UI"/>
              </a:rPr>
              <a:t>De los Excel a la pantalla, con degradación elegante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965960"/>
            <a:ext cx="1761683" cy="1188720"/>
          </a:xfrm>
          <a:prstGeom prst="roundRect">
            <a:avLst>
              <a:gd name="adj" fmla="val 12000"/>
            </a:avLst>
          </a:prstGeom>
          <a:solidFill>
            <a:srgbClr val="17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176272"/>
            <a:ext cx="17616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F5F0E8"/>
                </a:solidFill>
                <a:latin typeface="Consolas"/>
              </a:rPr>
              <a:t>data/01_raw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606040"/>
            <a:ext cx="17616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D9B98"/>
                </a:solidFill>
                <a:latin typeface="Segoe UI"/>
              </a:rPr>
              <a:t>Excel oficiales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47483" y="2286000"/>
            <a:ext cx="502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5A36"/>
                </a:solidFill>
                <a:latin typeface="Segoe U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50403" y="1965960"/>
            <a:ext cx="1761683" cy="1188720"/>
          </a:xfrm>
          <a:prstGeom prst="roundRect">
            <a:avLst>
              <a:gd name="adj" fmla="val 12000"/>
            </a:avLst>
          </a:prstGeom>
          <a:solidFill>
            <a:srgbClr val="17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50403" y="2176272"/>
            <a:ext cx="17616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F5F0E8"/>
                </a:solidFill>
                <a:latin typeface="Consolas"/>
              </a:rPr>
              <a:t>ml/ingest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50403" y="2606040"/>
            <a:ext cx="17616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D9B98"/>
                </a:solidFill>
                <a:latin typeface="Segoe UI"/>
              </a:rPr>
              <a:t>limpieza + malla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2086" y="2286000"/>
            <a:ext cx="502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5A36"/>
                </a:solidFill>
                <a:latin typeface="Segoe U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15006" y="1965960"/>
            <a:ext cx="1761683" cy="1188720"/>
          </a:xfrm>
          <a:prstGeom prst="roundRect">
            <a:avLst>
              <a:gd name="adj" fmla="val 12000"/>
            </a:avLst>
          </a:prstGeom>
          <a:solidFill>
            <a:srgbClr val="17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5006" y="2176272"/>
            <a:ext cx="17616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F5F0E8"/>
                </a:solidFill>
                <a:latin typeface="Consolas"/>
              </a:rPr>
              <a:t>XGBoost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5006" y="2606040"/>
            <a:ext cx="17616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D9B98"/>
                </a:solidFill>
                <a:latin typeface="Segoe UI"/>
              </a:rPr>
              <a:t>models/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76689" y="2286000"/>
            <a:ext cx="502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5A36"/>
                </a:solidFill>
                <a:latin typeface="Segoe U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79609" y="1965960"/>
            <a:ext cx="1761683" cy="1188720"/>
          </a:xfrm>
          <a:prstGeom prst="roundRect">
            <a:avLst>
              <a:gd name="adj" fmla="val 12000"/>
            </a:avLst>
          </a:prstGeom>
          <a:solidFill>
            <a:srgbClr val="17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79609" y="2176272"/>
            <a:ext cx="17616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F5F0E8"/>
                </a:solidFill>
                <a:latin typeface="Consolas"/>
              </a:rPr>
              <a:t>FastAPI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79609" y="2606040"/>
            <a:ext cx="17616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D9B98"/>
                </a:solidFill>
                <a:latin typeface="Segoe UI"/>
              </a:rPr>
              <a:t>Render · /risk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41292" y="2286000"/>
            <a:ext cx="502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5A36"/>
                </a:solidFill>
                <a:latin typeface="Segoe U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744212" y="1965960"/>
            <a:ext cx="1761683" cy="1188720"/>
          </a:xfrm>
          <a:prstGeom prst="roundRect">
            <a:avLst>
              <a:gd name="adj" fmla="val 12000"/>
            </a:avLst>
          </a:prstGeom>
          <a:solidFill>
            <a:srgbClr val="17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44212" y="2176272"/>
            <a:ext cx="17616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F5F0E8"/>
                </a:solidFill>
                <a:latin typeface="Consolas"/>
              </a:rPr>
              <a:t>React + Vite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44212" y="2606040"/>
            <a:ext cx="17616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D9B98"/>
                </a:solidFill>
                <a:latin typeface="Segoe UI"/>
              </a:rPr>
              <a:t>Vercel · 2 apps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3794760"/>
            <a:ext cx="10820095" cy="2514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500" b="1">
                <a:solidFill>
                  <a:srgbClr val="FF5A36"/>
                </a:solidFill>
                <a:latin typeface="Segoe UI"/>
              </a:rPr>
              <a:t>—  </a:t>
            </a:r>
            <a:r>
              <a:rPr sz="1500" b="1">
                <a:solidFill>
                  <a:srgbClr val="F5F0E8"/>
                </a:solidFill>
                <a:latin typeface="Segoe UI"/>
              </a:rPr>
              <a:t>Sin modelo, la API sigue.  </a:t>
            </a:r>
            <a:r>
              <a:rPr sz="1400" b="0">
                <a:solidFill>
                  <a:srgbClr val="9D9B98"/>
                </a:solidFill>
                <a:latin typeface="Segoe UI"/>
              </a:rPr>
              <a:t>fallback analítico (riesgo base × patrón horario) con el mismo contrato JSON.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500" b="1">
                <a:solidFill>
                  <a:srgbClr val="FF5A36"/>
                </a:solidFill>
                <a:latin typeface="Segoe UI"/>
              </a:rPr>
              <a:t>—  </a:t>
            </a:r>
            <a:r>
              <a:rPr sz="1500" b="1">
                <a:solidFill>
                  <a:srgbClr val="F5F0E8"/>
                </a:solidFill>
                <a:latin typeface="Segoe UI"/>
              </a:rPr>
              <a:t>Sin backend, la app sigue.  </a:t>
            </a:r>
            <a:r>
              <a:rPr sz="1400" b="0">
                <a:solidFill>
                  <a:srgbClr val="9D9B98"/>
                </a:solidFill>
                <a:latin typeface="Segoe UI"/>
              </a:rPr>
              <a:t>modo demo con datos estáticos; la cabecera dice si estás «En vivo · modelo», «En vivo» o «Demo».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500" b="1">
                <a:solidFill>
                  <a:srgbClr val="FF5A36"/>
                </a:solidFill>
                <a:latin typeface="Segoe UI"/>
              </a:rPr>
              <a:t>—  </a:t>
            </a:r>
            <a:r>
              <a:rPr sz="1500" b="1">
                <a:solidFill>
                  <a:srgbClr val="F5F0E8"/>
                </a:solidFill>
                <a:latin typeface="Segoe UI"/>
              </a:rPr>
              <a:t>Escalable a otras ciudades.  </a:t>
            </a:r>
            <a:r>
              <a:rPr sz="1400" b="0">
                <a:solidFill>
                  <a:srgbClr val="9D9B98"/>
                </a:solidFill>
                <a:latin typeface="Segoe UI"/>
              </a:rPr>
              <a:t>nada del backend está atado a Cali: cambiar los Excel de 01_raw re-entrena todo.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9D9B98"/>
                </a:solidFill>
                <a:latin typeface="Segoe UI"/>
              </a:rPr>
              <a:t>Pilas</a:t>
            </a:r>
            <a:r>
              <a:rPr sz="1100" b="0">
                <a:solidFill>
                  <a:srgbClr val="5E5D5C"/>
                </a:solidFill>
                <a:latin typeface="Segoe UI"/>
              </a:rPr>
              <a:t>  ·  Datos al Ecosistema 2026 — MinTIC  ·  Cali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91495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5E5D5C"/>
                </a:solidFill>
                <a:latin typeface="Segoe U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5A36"/>
                </a:solidFill>
                <a:latin typeface="Segoe UI"/>
              </a:rPr>
              <a:t>IA RESPONSABLE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8200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F5F0E8"/>
                </a:solidFill>
                <a:latin typeface="Segoe UI"/>
              </a:rPr>
              <a:t>Diseñado para no estigmatizar ni vigilar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820095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600" b="1">
                <a:solidFill>
                  <a:srgbClr val="FF5A36"/>
                </a:solidFill>
                <a:latin typeface="Segoe UI"/>
              </a:rPr>
              <a:t>—  </a:t>
            </a:r>
            <a:r>
              <a:rPr sz="1600" b="1">
                <a:solidFill>
                  <a:srgbClr val="F5F0E8"/>
                </a:solidFill>
                <a:latin typeface="Segoe UI"/>
              </a:rPr>
              <a:t>Nivel de atención, no peligrosidad.  </a:t>
            </a:r>
            <a:r>
              <a:rPr sz="1500" b="0">
                <a:solidFill>
                  <a:srgbClr val="9D9B98"/>
                </a:solidFill>
                <a:latin typeface="Segoe UI"/>
              </a:rPr>
              <a:t>el lenguaje y la paleta «batería» hablan de cuánta atención requiere una zona a una hora — nunca de qué tan «mala» es su gente.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600" b="1">
                <a:solidFill>
                  <a:srgbClr val="FF5A36"/>
                </a:solidFill>
                <a:latin typeface="Segoe UI"/>
              </a:rPr>
              <a:t>—  </a:t>
            </a:r>
            <a:r>
              <a:rPr sz="1600" b="1">
                <a:solidFill>
                  <a:srgbClr val="F5F0E8"/>
                </a:solidFill>
                <a:latin typeface="Segoe UI"/>
              </a:rPr>
              <a:t>Escala relativa por hora.  </a:t>
            </a:r>
            <a:r>
              <a:rPr sz="1500" b="0">
                <a:solidFill>
                  <a:srgbClr val="9D9B98"/>
                </a:solidFill>
                <a:latin typeface="Segoe UI"/>
              </a:rPr>
              <a:t>cuartiles entre comunas para que ningún territorio quede clavado en el color máximo 24/7.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600" b="1">
                <a:solidFill>
                  <a:srgbClr val="FF5A36"/>
                </a:solidFill>
                <a:latin typeface="Segoe UI"/>
              </a:rPr>
              <a:t>—  </a:t>
            </a:r>
            <a:r>
              <a:rPr sz="1600" b="1">
                <a:solidFill>
                  <a:srgbClr val="F5F0E8"/>
                </a:solidFill>
                <a:latin typeface="Segoe UI"/>
              </a:rPr>
              <a:t>Explicabilidad visible.  </a:t>
            </a:r>
            <a:r>
              <a:rPr sz="1500" b="0">
                <a:solidFill>
                  <a:srgbClr val="9D9B98"/>
                </a:solidFill>
                <a:latin typeface="Segoe UI"/>
              </a:rPr>
              <a:t>SHAP en la interfaz: cada estimación muestra sus factores (hora, día, comuna, festivo).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600" b="1">
                <a:solidFill>
                  <a:srgbClr val="FF5A36"/>
                </a:solidFill>
                <a:latin typeface="Segoe UI"/>
              </a:rPr>
              <a:t>—  </a:t>
            </a:r>
            <a:r>
              <a:rPr sz="1600" b="1">
                <a:solidFill>
                  <a:srgbClr val="F5F0E8"/>
                </a:solidFill>
                <a:latin typeface="Segoe UI"/>
              </a:rPr>
              <a:t>Privacidad.  </a:t>
            </a:r>
            <a:r>
              <a:rPr sz="1500" b="0">
                <a:solidFill>
                  <a:srgbClr val="9D9B98"/>
                </a:solidFill>
                <a:latin typeface="Segoe UI"/>
              </a:rPr>
              <a:t>solo agregados espacio-temporales; sin registros individuales, sin datos personales, sin cámaras.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600" b="1">
                <a:solidFill>
                  <a:srgbClr val="FF5A36"/>
                </a:solidFill>
                <a:latin typeface="Segoe UI"/>
              </a:rPr>
              <a:t>—  </a:t>
            </a:r>
            <a:r>
              <a:rPr sz="1600" b="1">
                <a:solidFill>
                  <a:srgbClr val="F5F0E8"/>
                </a:solidFill>
                <a:latin typeface="Segoe UI"/>
              </a:rPr>
              <a:t>Trazabilidad.  </a:t>
            </a:r>
            <a:r>
              <a:rPr sz="1500" b="0">
                <a:solidFill>
                  <a:srgbClr val="9D9B98"/>
                </a:solidFill>
                <a:latin typeface="Segoe UI"/>
              </a:rPr>
              <a:t>fuentes citadas en la app y en docs/fuentes_datos.md; métricas del modelo públicas en /metrics.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9D9B98"/>
                </a:solidFill>
                <a:latin typeface="Segoe UI"/>
              </a:rPr>
              <a:t>Pilas</a:t>
            </a:r>
            <a:r>
              <a:rPr sz="1100" b="0">
                <a:solidFill>
                  <a:srgbClr val="5E5D5C"/>
                </a:solidFill>
                <a:latin typeface="Segoe UI"/>
              </a:rPr>
              <a:t>  ·  Datos al Ecosistema 2026 — MinTIC  ·  Cali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91495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5E5D5C"/>
                </a:solidFill>
                <a:latin typeface="Segoe U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5A36"/>
                </a:solidFill>
                <a:latin typeface="Segoe UI"/>
              </a:rPr>
              <a:t>HONESTIDAD TÉCNICA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8200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F5F0E8"/>
                </a:solidFill>
                <a:latin typeface="Segoe UI"/>
              </a:rPr>
              <a:t>Limitaciones y próximos pasos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28800"/>
            <a:ext cx="5272887" cy="3291840"/>
          </a:xfrm>
          <a:prstGeom prst="roundRect">
            <a:avLst>
              <a:gd name="adj" fmla="val 6000"/>
            </a:avLst>
          </a:prstGeom>
          <a:solidFill>
            <a:srgbClr val="17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057400"/>
            <a:ext cx="47242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FFB454"/>
                </a:solidFill>
                <a:latin typeface="Segoe UI"/>
              </a:rPr>
              <a:t>Limitaciones actuales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560320"/>
            <a:ext cx="4724247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 b="1">
                <a:solidFill>
                  <a:srgbClr val="5E5D5C"/>
                </a:solidFill>
                <a:latin typeface="Segoe UI"/>
              </a:rPr>
              <a:t>—  </a:t>
            </a:r>
            <a:r>
              <a:rPr sz="1400" b="0">
                <a:solidFill>
                  <a:srgbClr val="F5F0E8"/>
                </a:solidFill>
                <a:latin typeface="Segoe UI"/>
              </a:rPr>
              <a:t>Granularidad a nivel de comuna (sin georreferenciación fina)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 b="1">
                <a:solidFill>
                  <a:srgbClr val="5E5D5C"/>
                </a:solidFill>
                <a:latin typeface="Segoe UI"/>
              </a:rPr>
              <a:t>—  </a:t>
            </a:r>
            <a:r>
              <a:rPr sz="1400" b="0">
                <a:solidFill>
                  <a:srgbClr val="F5F0E8"/>
                </a:solidFill>
                <a:latin typeface="Segoe UI"/>
              </a:rPr>
              <a:t>Solo hurtos: homicidios y lesiones aún sin bases (SIJIN/ML)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 b="1">
                <a:solidFill>
                  <a:srgbClr val="5E5D5C"/>
                </a:solidFill>
                <a:latin typeface="Segoe UI"/>
              </a:rPr>
              <a:t>—  </a:t>
            </a:r>
            <a:r>
              <a:rPr sz="1400" b="0">
                <a:solidFill>
                  <a:srgbClr val="F5F0E8"/>
                </a:solidFill>
                <a:latin typeface="Segoe UI"/>
              </a:rPr>
              <a:t>Sesgo de denuncia: mide denuncias, no criminalidad total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 b="1">
                <a:solidFill>
                  <a:srgbClr val="5E5D5C"/>
                </a:solidFill>
                <a:latin typeface="Segoe UI"/>
              </a:rPr>
              <a:t>—  </a:t>
            </a:r>
            <a:r>
              <a:rPr sz="1400" b="0">
                <a:solidFill>
                  <a:srgbClr val="F5F0E8"/>
                </a:solidFill>
                <a:latin typeface="Segoe UI"/>
              </a:rPr>
              <a:t>Validación con usuarios todavía pendiente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3007" y="1828800"/>
            <a:ext cx="5272887" cy="3291840"/>
          </a:xfrm>
          <a:prstGeom prst="roundRect">
            <a:avLst>
              <a:gd name="adj" fmla="val 6000"/>
            </a:avLst>
          </a:prstGeom>
          <a:solidFill>
            <a:srgbClr val="17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07327" y="2057400"/>
            <a:ext cx="47242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FF5A36"/>
                </a:solidFill>
                <a:latin typeface="Segoe UI"/>
              </a:rPr>
              <a:t>Siguientes pasos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07327" y="2560320"/>
            <a:ext cx="4724247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 b="1">
                <a:solidFill>
                  <a:srgbClr val="5E5D5C"/>
                </a:solidFill>
                <a:latin typeface="Segoe UI"/>
              </a:rPr>
              <a:t>—  </a:t>
            </a:r>
            <a:r>
              <a:rPr sz="1400" b="0">
                <a:solidFill>
                  <a:srgbClr val="F5F0E8"/>
                </a:solidFill>
                <a:latin typeface="Segoe UI"/>
              </a:rPr>
              <a:t>Hexágonos H3 + features espaciales (CAI, alumbrado, densidad)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 b="1">
                <a:solidFill>
                  <a:srgbClr val="5E5D5C"/>
                </a:solidFill>
                <a:latin typeface="Segoe UI"/>
              </a:rPr>
              <a:t>—  </a:t>
            </a:r>
            <a:r>
              <a:rPr sz="1400" b="0">
                <a:solidFill>
                  <a:srgbClr val="F5F0E8"/>
                </a:solidFill>
                <a:latin typeface="Segoe UI"/>
              </a:rPr>
              <a:t>Integrar SIJIN / Medicina Legal (la tubería ya está lista)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 b="1">
                <a:solidFill>
                  <a:srgbClr val="5E5D5C"/>
                </a:solidFill>
                <a:latin typeface="Segoe UI"/>
              </a:rPr>
              <a:t>—  </a:t>
            </a:r>
            <a:r>
              <a:rPr sz="1400" b="0">
                <a:solidFill>
                  <a:srgbClr val="F5F0E8"/>
                </a:solidFill>
                <a:latin typeface="Segoe UI"/>
              </a:rPr>
              <a:t>MLflow para versionar experimentos y re-entrenos programados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 b="1">
                <a:solidFill>
                  <a:srgbClr val="5E5D5C"/>
                </a:solidFill>
                <a:latin typeface="Segoe UI"/>
              </a:rPr>
              <a:t>—  </a:t>
            </a:r>
            <a:r>
              <a:rPr sz="1400" b="0">
                <a:solidFill>
                  <a:srgbClr val="F5F0E8"/>
                </a:solidFill>
                <a:latin typeface="Segoe UI"/>
              </a:rPr>
              <a:t>Entrevistas con ciudadanos, turistas y Secretaría de Seguridad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9D9B98"/>
                </a:solidFill>
                <a:latin typeface="Segoe UI"/>
              </a:rPr>
              <a:t>Pilas</a:t>
            </a:r>
            <a:r>
              <a:rPr sz="1100" b="0">
                <a:solidFill>
                  <a:srgbClr val="5E5D5C"/>
                </a:solidFill>
                <a:latin typeface="Segoe UI"/>
              </a:rPr>
              <a:t>  ·  Datos al Ecosistema 2026 — MinTIC  ·  Cali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91495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5E5D5C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1005840"/>
            <a:ext cx="1156716" cy="523036"/>
          </a:xfrm>
          <a:prstGeom prst="roundRect">
            <a:avLst>
              <a:gd name="adj" fmla="val 25000"/>
            </a:avLst>
          </a:prstGeom>
          <a:solidFill>
            <a:srgbClr val="0E1116"/>
          </a:solidFill>
          <a:ln w="30734">
            <a:solidFill>
              <a:srgbClr val="F5F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887778" y="1166774"/>
            <a:ext cx="90525" cy="201168"/>
          </a:xfrm>
          <a:prstGeom prst="roundRect">
            <a:avLst>
              <a:gd name="adj" fmla="val 40000"/>
            </a:avLst>
          </a:prstGeom>
          <a:solidFill>
            <a:srgbClr val="F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1238" y="1081278"/>
            <a:ext cx="217513" cy="372160"/>
          </a:xfrm>
          <a:prstGeom prst="rect">
            <a:avLst/>
          </a:prstGeom>
          <a:solidFill>
            <a:srgbClr val="7BC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24013" y="1081278"/>
            <a:ext cx="217513" cy="372160"/>
          </a:xfrm>
          <a:prstGeom prst="rect">
            <a:avLst/>
          </a:prstGeom>
          <a:solidFill>
            <a:srgbClr val="C9C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86788" y="1081278"/>
            <a:ext cx="217513" cy="372160"/>
          </a:xfrm>
          <a:prstGeom prst="rect">
            <a:avLst/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549563" y="1081278"/>
            <a:ext cx="217513" cy="372160"/>
          </a:xfrm>
          <a:prstGeom prst="rect">
            <a:avLst/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082009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4000" b="1">
                <a:solidFill>
                  <a:srgbClr val="F5F0E8"/>
                </a:solidFill>
                <a:latin typeface="Segoe UI"/>
              </a:rPr>
              <a:t>Pilas: que los datos abiertos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4000" b="1">
                <a:solidFill>
                  <a:srgbClr val="F5F0E8"/>
                </a:solidFill>
                <a:latin typeface="Segoe UI"/>
              </a:rPr>
              <a:t>le sirvan a quien camina la ciudad.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794760"/>
            <a:ext cx="105156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600" b="1">
                <a:solidFill>
                  <a:srgbClr val="F5F0E8"/>
                </a:solidFill>
                <a:latin typeface="Segoe UI"/>
              </a:rPr>
              <a:t>Repositorio reproducible:  </a:t>
            </a:r>
            <a:r>
              <a:rPr sz="1600" b="0">
                <a:solidFill>
                  <a:srgbClr val="9D9B98"/>
                </a:solidFill>
                <a:latin typeface="Segoe UI"/>
              </a:rPr>
              <a:t>docs/ · data/ · notebooks/ · pipelines/ · tests/ · CI — licencia MIT.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600" b="1">
                <a:solidFill>
                  <a:srgbClr val="F5F0E8"/>
                </a:solidFill>
                <a:latin typeface="Segoe UI"/>
              </a:rPr>
              <a:t>Demo:  </a:t>
            </a:r>
            <a:r>
              <a:rPr sz="1600" b="0">
                <a:solidFill>
                  <a:srgbClr val="9D9B98"/>
                </a:solidFill>
                <a:latin typeface="Segoe UI"/>
              </a:rPr>
              <a:t>pilas-ten.vercel.app  ·  API en Render con el modelo en vivo.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394960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F5F0E8"/>
                </a:solidFill>
                <a:latin typeface="Segoe UI"/>
              </a:rPr>
              <a:t>Catherine Nicol Ortega  ·  Zharick Valeria Fernandez  ·  Santiago Ruiz Vanegas  ·  Juan Felipe Delgado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FF5A36"/>
                </a:solidFill>
                <a:latin typeface="Segoe UI"/>
              </a:rPr>
              <a:t>¡Gracias! — Preguntas bienvenidas.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