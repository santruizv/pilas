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822960"/>
            <a:ext cx="1419606" cy="641908"/>
          </a:xfrm>
          <a:prstGeom prst="roundRect">
            <a:avLst>
              <a:gd name="adj" fmla="val 25000"/>
            </a:avLst>
          </a:prstGeom>
          <a:solidFill>
            <a:srgbClr val="0E1116"/>
          </a:solidFill>
          <a:ln w="37719">
            <a:solidFill>
              <a:srgbClr val="F5F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60955" y="1020470"/>
            <a:ext cx="111099" cy="246888"/>
          </a:xfrm>
          <a:prstGeom prst="roundRect">
            <a:avLst>
              <a:gd name="adj" fmla="val 40000"/>
            </a:avLst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8383" y="915543"/>
            <a:ext cx="266948" cy="456742"/>
          </a:xfrm>
          <a:prstGeom prst="rect">
            <a:avLst/>
          </a:prstGeom>
          <a:solidFill>
            <a:srgbClr val="7BC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0880" y="915543"/>
            <a:ext cx="266948" cy="456742"/>
          </a:xfrm>
          <a:prstGeom prst="rect">
            <a:avLst/>
          </a:prstGeom>
          <a:solidFill>
            <a:srgbClr val="C9C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23377" y="915543"/>
            <a:ext cx="266948" cy="456742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45874" y="915543"/>
            <a:ext cx="266948" cy="456742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786384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F5F0E8"/>
                </a:solidFill>
                <a:latin typeface="Segoe UI" panose="020B0502040204020203"/>
              </a:rPr>
              <a:t>Pilas</a:t>
            </a:r>
            <a:r>
              <a:rPr sz="4000" b="1">
                <a:solidFill>
                  <a:srgbClr val="FF5A36"/>
                </a:solidFill>
                <a:latin typeface="Segoe UI" panose="020B0502040204020203"/>
              </a:rPr>
              <a:t>.</a:t>
            </a:r>
            <a:endParaRPr sz="4000" b="1">
              <a:solidFill>
                <a:srgbClr val="FF5A36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108200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5A36"/>
                </a:solidFill>
                <a:latin typeface="Segoe UI" panose="020B0502040204020203"/>
              </a:rPr>
              <a:t>DATOS AL ECOSISTEMA 2026 · MINTIC  —  PROYECTO INTERMEDIO IA</a:t>
            </a:r>
            <a:endParaRPr sz="1400" b="1">
              <a:solidFill>
                <a:srgbClr val="FF5A36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10820095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5F0E8"/>
                </a:solidFill>
                <a:latin typeface="Segoe UI" panose="020B0502040204020203"/>
              </a:rPr>
              <a:t>Seguridad predictiva para Cali:</a:t>
            </a:r>
            <a:endParaRPr sz="4000" b="1">
              <a:solidFill>
                <a:srgbClr val="F5F0E8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5F0E8"/>
                </a:solidFill>
                <a:latin typeface="Segoe UI" panose="020B0502040204020203"/>
              </a:rPr>
              <a:t>datos abiertos convertidos en prevención.</a:t>
            </a:r>
            <a:endParaRPr sz="4000" b="1">
              <a:solidFill>
                <a:srgbClr val="F5F0E8"/>
              </a:solidFill>
              <a:latin typeface="Segoe U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448056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9D9B98"/>
                </a:solidFill>
                <a:latin typeface="Segoe UI" panose="020B0502040204020203"/>
              </a:rPr>
              <a:t>Riesgo de hurto por comuna y hora — XGBoost sobre ~219.000 incidentes reales (2010–2026) — app ciudadana + centro de mando gubernamental.</a:t>
            </a:r>
            <a:endParaRPr sz="1700" b="0">
              <a:solidFill>
                <a:srgbClr val="9D9B98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548640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5F0E8"/>
                </a:solidFill>
                <a:latin typeface="Segoe UI" panose="020B0502040204020203"/>
              </a:rPr>
              <a:t>Catherine Nicol Ortega   ·   Zharick Valeria Fernandez   ·   Santiago Ruiz Vanegas   ·   Juan Felipe Delgado</a:t>
            </a:r>
            <a:endParaRPr sz="1500" b="1">
              <a:solidFill>
                <a:srgbClr val="F5F0E8"/>
              </a:solidFill>
              <a:latin typeface="Segoe UI" panose="020B0502040204020203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5E5D5C"/>
                </a:solidFill>
                <a:latin typeface="Segoe UI" panose="020B0502040204020203"/>
              </a:rPr>
              <a:t>Santiago de Cali · Julio de 2026</a:t>
            </a:r>
            <a:endParaRPr sz="1300" b="0">
              <a:solidFill>
                <a:srgbClr val="5E5D5C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5A36"/>
                </a:solidFill>
                <a:latin typeface="Segoe UI" panose="020B0502040204020203"/>
              </a:rPr>
              <a:t>EL PROBLEMA</a:t>
            </a:r>
            <a:endParaRPr sz="1300" b="1">
              <a:solidFill>
                <a:srgbClr val="FF5A36"/>
              </a:solidFill>
              <a:latin typeface="Segoe UI" panose="020B05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5F0E8"/>
                </a:solidFill>
                <a:latin typeface="Segoe UI" panose="020B0502040204020203"/>
              </a:rPr>
              <a:t>Los datos abiertos de seguridad existen, pero no son accionables</a:t>
            </a:r>
            <a:endParaRPr sz="3400" b="1">
              <a:solidFill>
                <a:srgbClr val="F5F0E8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2286000"/>
            <a:ext cx="10820095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700" b="1">
                <a:solidFill>
                  <a:srgbClr val="FF5A36"/>
                </a:solidFill>
                <a:latin typeface="Segoe UI" panose="020B0502040204020203"/>
              </a:rPr>
              <a:t>—  </a:t>
            </a:r>
            <a:r>
              <a:rPr sz="1700" b="1">
                <a:solidFill>
                  <a:srgbClr val="F5F0E8"/>
                </a:solidFill>
                <a:latin typeface="Segoe UI" panose="020B0502040204020203"/>
              </a:rPr>
              <a:t>Cali publica sus cifras.  </a:t>
            </a:r>
            <a:r>
              <a:rPr sz="1600" b="0">
                <a:solidFill>
                  <a:srgbClr val="9D9B98"/>
                </a:solidFill>
                <a:latin typeface="Segoe UI" panose="020B0502040204020203"/>
              </a:rPr>
              <a:t>datos.gov.co, Alcaldía y Policía liberan cientos de miles de registros de hurtos, violencia intrafamiliar y de género.</a:t>
            </a:r>
            <a:endParaRPr sz="16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700" b="1">
                <a:solidFill>
                  <a:srgbClr val="FF5A36"/>
                </a:solidFill>
                <a:latin typeface="Segoe UI" panose="020B0502040204020203"/>
              </a:rPr>
              <a:t>—  </a:t>
            </a:r>
            <a:r>
              <a:rPr sz="1700" b="1">
                <a:solidFill>
                  <a:srgbClr val="F5F0E8"/>
                </a:solidFill>
                <a:latin typeface="Segoe UI" panose="020B0502040204020203"/>
              </a:rPr>
              <a:t>Pero llegan como Excel crudos.  </a:t>
            </a:r>
            <a:r>
              <a:rPr sz="1600" b="0">
                <a:solidFill>
                  <a:srgbClr val="9D9B98"/>
                </a:solidFill>
                <a:latin typeface="Segoe UI" panose="020B0502040204020203"/>
              </a:rPr>
              <a:t>un ciudadano o un turista no puede convertirlos en la decisión que necesita: ¿por dónde camino?, ¿a qué hora?, ¿dónde tomo transporte?</a:t>
            </a:r>
            <a:endParaRPr sz="16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700" b="1">
                <a:solidFill>
                  <a:srgbClr val="FF5A36"/>
                </a:solidFill>
                <a:latin typeface="Segoe UI" panose="020B0502040204020203"/>
              </a:rPr>
              <a:t>—  </a:t>
            </a:r>
            <a:r>
              <a:rPr sz="1700" b="1">
                <a:solidFill>
                  <a:srgbClr val="F5F0E8"/>
                </a:solidFill>
                <a:latin typeface="Segoe UI" panose="020B0502040204020203"/>
              </a:rPr>
              <a:t>Y la autoridad decide a ciegas.  </a:t>
            </a:r>
            <a:r>
              <a:rPr sz="1600" b="0">
                <a:solidFill>
                  <a:srgbClr val="9D9B98"/>
                </a:solidFill>
                <a:latin typeface="Segoe UI" panose="020B0502040204020203"/>
              </a:rPr>
              <a:t>la Secretaría de Seguridad asigna patrullas sin una estimación fina de riesgo por zona y franja horaria.</a:t>
            </a:r>
            <a:endParaRPr sz="1600" b="0">
              <a:solidFill>
                <a:srgbClr val="9D9B98"/>
              </a:solidFill>
              <a:latin typeface="Segoe UI" panose="020B0502040204020203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4892040"/>
            <a:ext cx="10820095" cy="1143000"/>
          </a:xfrm>
          <a:prstGeom prst="roundRect">
            <a:avLst>
              <a:gd name="adj" fmla="val 10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074920"/>
            <a:ext cx="1018001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F5A36"/>
                </a:solidFill>
                <a:latin typeface="Segoe UI" panose="020B0502040204020203"/>
              </a:rPr>
              <a:t>Pregunta de investigación:  </a:t>
            </a:r>
            <a:r>
              <a:rPr sz="1500" b="0">
                <a:solidFill>
                  <a:srgbClr val="F5F0E8"/>
                </a:solidFill>
                <a:latin typeface="Segoe UI" panose="020B0502040204020203"/>
              </a:rPr>
              <a:t>¿pueden los datos abiertos históricos estimar el riesgo de hurto por comuna y franja horaria en Cali, con poder predictivo suficiente para orientar decisiones preventivas?</a:t>
            </a:r>
            <a:endParaRPr sz="1500" b="0">
              <a:solidFill>
                <a:srgbClr val="F5F0E8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9D9B98"/>
                </a:solidFill>
                <a:latin typeface="Segoe UI" panose="020B0502040204020203"/>
              </a:rPr>
              <a:t>Pilas</a:t>
            </a:r>
            <a:r>
              <a:rPr sz="1100" b="0">
                <a:solidFill>
                  <a:srgbClr val="5E5D5C"/>
                </a:solidFill>
                <a:latin typeface="Segoe UI" panose="020B0502040204020203"/>
              </a:rPr>
              <a:t>  ·  Datos al Ecosistema 2026 — MinTIC  ·  Cali</a:t>
            </a:r>
            <a:endParaRPr sz="1100" b="0">
              <a:solidFill>
                <a:srgbClr val="5E5D5C"/>
              </a:solidFill>
              <a:latin typeface="Segoe UI" panose="020B05020402040202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591495" y="641908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E5D5C"/>
                </a:solidFill>
                <a:latin typeface="Segoe UI" panose="020B0502040204020203"/>
              </a:rPr>
              <a:t>02</a:t>
            </a:r>
            <a:endParaRPr sz="1100" b="0">
              <a:solidFill>
                <a:srgbClr val="5E5D5C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5A36"/>
                </a:solidFill>
                <a:latin typeface="Segoe UI" panose="020B0502040204020203"/>
              </a:rPr>
              <a:t>LA SOLUCIÓN</a:t>
            </a:r>
            <a:endParaRPr sz="1300" b="1">
              <a:solidFill>
                <a:srgbClr val="FF5A36"/>
              </a:solidFill>
              <a:latin typeface="Segoe UI" panose="020B05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5F0E8"/>
                </a:solidFill>
                <a:latin typeface="Segoe UI" panose="020B0502040204020203"/>
              </a:rPr>
              <a:t>Pilas: una plataforma, dos caras</a:t>
            </a:r>
            <a:endParaRPr sz="3400" b="1">
              <a:solidFill>
                <a:srgbClr val="F5F0E8"/>
              </a:solidFill>
              <a:latin typeface="Segoe UI" panose="020B0502040204020203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783080"/>
            <a:ext cx="5272887" cy="2834640"/>
          </a:xfrm>
          <a:prstGeom prst="roundRect">
            <a:avLst>
              <a:gd name="adj" fmla="val 6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47242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5A36"/>
                </a:solidFill>
                <a:latin typeface="Segoe UI" panose="020B0502040204020203"/>
              </a:rPr>
              <a:t>App ciudadana  ·  ciudadano.html</a:t>
            </a:r>
            <a:endParaRPr sz="1700" b="1">
              <a:solidFill>
                <a:srgbClr val="FF5A36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" y="2514600"/>
            <a:ext cx="4724247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5E5D5C"/>
                </a:solidFill>
                <a:latin typeface="Segoe UI" panose="020B0502040204020203"/>
              </a:rPr>
              <a:t>—  </a:t>
            </a:r>
            <a:r>
              <a:rPr sz="1400" b="0">
                <a:solidFill>
                  <a:srgbClr val="F5F0E8"/>
                </a:solidFill>
                <a:latin typeface="Segoe UI" panose="020B0502040204020203"/>
              </a:rPr>
              <a:t>Mapa de atención por hora (hexágonos H3 sobre las 22 comunas)</a:t>
            </a:r>
            <a:endParaRPr sz="1400" b="0">
              <a:solidFill>
                <a:srgbClr val="F5F0E8"/>
              </a:solidFill>
              <a:latin typeface="Segoe UI" panose="020B0502040204020203"/>
            </a:endParaRP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5E5D5C"/>
                </a:solidFill>
                <a:latin typeface="Segoe UI" panose="020B0502040204020203"/>
              </a:rPr>
              <a:t>—  </a:t>
            </a:r>
            <a:r>
              <a:rPr sz="1400" b="0">
                <a:solidFill>
                  <a:srgbClr val="F5F0E8"/>
                </a:solidFill>
                <a:latin typeface="Segoe UI" panose="020B0502040204020203"/>
              </a:rPr>
              <a:t>Ruta segura, pulso de la ciudad y reportes ciudadanos</a:t>
            </a:r>
            <a:endParaRPr sz="1400" b="0">
              <a:solidFill>
                <a:srgbClr val="F5F0E8"/>
              </a:solidFill>
              <a:latin typeface="Segoe UI" panose="020B0502040204020203"/>
            </a:endParaRP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5E5D5C"/>
                </a:solidFill>
                <a:latin typeface="Segoe UI" panose="020B0502040204020203"/>
              </a:rPr>
              <a:t>—  </a:t>
            </a:r>
            <a:r>
              <a:rPr sz="1400" b="0">
                <a:solidFill>
                  <a:srgbClr val="F5F0E8"/>
                </a:solidFill>
                <a:latin typeface="Segoe UI" panose="020B0502040204020203"/>
              </a:rPr>
              <a:t>Modo turista: clima, vuelos, MIO, taxi seguro, sitios e inglés</a:t>
            </a:r>
            <a:endParaRPr sz="1400" b="0">
              <a:solidFill>
                <a:srgbClr val="F5F0E8"/>
              </a:solidFill>
              <a:latin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33007" y="1783080"/>
            <a:ext cx="5272887" cy="2834640"/>
          </a:xfrm>
          <a:prstGeom prst="roundRect">
            <a:avLst>
              <a:gd name="adj" fmla="val 6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011680"/>
            <a:ext cx="47242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5A36"/>
                </a:solidFill>
                <a:latin typeface="Segoe UI" panose="020B0502040204020203"/>
              </a:rPr>
              <a:t>Centro de mando  ·  gobierno.html</a:t>
            </a:r>
            <a:endParaRPr sz="1700" b="1">
              <a:solidFill>
                <a:srgbClr val="FF5A36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07327" y="2514600"/>
            <a:ext cx="4724247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5E5D5C"/>
                </a:solidFill>
                <a:latin typeface="Segoe UI" panose="020B0502040204020203"/>
              </a:rPr>
              <a:t>—  </a:t>
            </a:r>
            <a:r>
              <a:rPr sz="1400" b="0">
                <a:solidFill>
                  <a:srgbClr val="F5F0E8"/>
                </a:solidFill>
                <a:latin typeface="Segoe UI" panose="020B0502040204020203"/>
              </a:rPr>
              <a:t>6 KPIs estratégicos con tendencia y alertas accionables</a:t>
            </a:r>
            <a:endParaRPr sz="1400" b="0">
              <a:solidFill>
                <a:srgbClr val="F5F0E8"/>
              </a:solidFill>
              <a:latin typeface="Segoe UI" panose="020B0502040204020203"/>
            </a:endParaRP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5E5D5C"/>
                </a:solidFill>
                <a:latin typeface="Segoe UI" panose="020B0502040204020203"/>
              </a:rPr>
              <a:t>—  </a:t>
            </a:r>
            <a:r>
              <a:rPr sz="1400" b="0">
                <a:solidFill>
                  <a:srgbClr val="F5F0E8"/>
                </a:solidFill>
                <a:latin typeface="Segoe UI" panose="020B0502040204020203"/>
              </a:rPr>
              <a:t>Series por delito (90 días) y tabla de comunas con tasas /100k</a:t>
            </a:r>
            <a:endParaRPr sz="1400" b="0">
              <a:solidFill>
                <a:srgbClr val="F5F0E8"/>
              </a:solidFill>
              <a:latin typeface="Segoe UI" panose="020B0502040204020203"/>
            </a:endParaRP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5E5D5C"/>
                </a:solidFill>
                <a:latin typeface="Segoe UI" panose="020B0502040204020203"/>
              </a:rPr>
              <a:t>—  </a:t>
            </a:r>
            <a:r>
              <a:rPr sz="1400" b="0">
                <a:solidFill>
                  <a:srgbClr val="F5F0E8"/>
                </a:solidFill>
                <a:latin typeface="Segoe UI" panose="020B0502040204020203"/>
              </a:rPr>
              <a:t>Recomendación de patrullas por CAI y briefing con IA explicable</a:t>
            </a:r>
            <a:endParaRPr sz="1400" b="0">
              <a:solidFill>
                <a:srgbClr val="F5F0E8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4983480"/>
            <a:ext cx="10820095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F5F0E8"/>
                </a:solidFill>
                <a:latin typeface="Segoe UI" panose="020B0502040204020203"/>
              </a:rPr>
              <a:t>Comunicación no estigmatizante:  </a:t>
            </a:r>
            <a:r>
              <a:rPr sz="1500" b="0">
                <a:solidFill>
                  <a:srgbClr val="9D9B98"/>
                </a:solidFill>
                <a:latin typeface="Segoe UI" panose="020B0502040204020203"/>
              </a:rPr>
              <a:t>la metáfora de batería 🔋 — Tranquilo · Atento · Pilas · Muy pilas — habla de nivel de atención, no de peligrosidad de la gente; sin rojo-peligro por defecto y con nota metodológica visible.</a:t>
            </a:r>
            <a:endParaRPr sz="1500" b="0">
              <a:solidFill>
                <a:srgbClr val="9D9B98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9D9B98"/>
                </a:solidFill>
                <a:latin typeface="Segoe UI" panose="020B0502040204020203"/>
              </a:rPr>
              <a:t>Pilas</a:t>
            </a:r>
            <a:r>
              <a:rPr sz="1100" b="0">
                <a:solidFill>
                  <a:srgbClr val="5E5D5C"/>
                </a:solidFill>
                <a:latin typeface="Segoe UI" panose="020B0502040204020203"/>
              </a:rPr>
              <a:t>  ·  Datos al Ecosistema 2026 — MinTIC  ·  Cali</a:t>
            </a:r>
            <a:endParaRPr sz="1100" b="0">
              <a:solidFill>
                <a:srgbClr val="5E5D5C"/>
              </a:solidFill>
              <a:latin typeface="Segoe U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91495" y="641908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E5D5C"/>
                </a:solidFill>
                <a:latin typeface="Segoe UI" panose="020B0502040204020203"/>
              </a:rPr>
              <a:t>03</a:t>
            </a:r>
            <a:endParaRPr sz="1100" b="0">
              <a:solidFill>
                <a:srgbClr val="5E5D5C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5A36"/>
                </a:solidFill>
                <a:latin typeface="Segoe UI" panose="020B0502040204020203"/>
              </a:rPr>
              <a:t>LOS DATOS</a:t>
            </a:r>
            <a:endParaRPr sz="1300" b="1">
              <a:solidFill>
                <a:srgbClr val="FF5A36"/>
              </a:solidFill>
              <a:latin typeface="Segoe UI" panose="020B05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5F0E8"/>
                </a:solidFill>
                <a:latin typeface="Segoe UI" panose="020B0502040204020203"/>
              </a:rPr>
              <a:t>Solo fuentes abiertas oficiales</a:t>
            </a:r>
            <a:endParaRPr sz="3400" b="1">
              <a:solidFill>
                <a:srgbClr val="F5F0E8"/>
              </a:solidFill>
              <a:latin typeface="Segoe UI" panose="020B0502040204020203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2499283" cy="1600200"/>
          </a:xfrm>
          <a:prstGeom prst="roundRect">
            <a:avLst>
              <a:gd name="adj" fmla="val 8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75687"/>
            <a:ext cx="204208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FF5A36"/>
                </a:solidFill>
                <a:latin typeface="Segoe UI" panose="020B0502040204020203"/>
              </a:rPr>
              <a:t>219k</a:t>
            </a:r>
            <a:endParaRPr sz="4000" b="1">
              <a:solidFill>
                <a:srgbClr val="FF5A36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743199"/>
            <a:ext cx="204208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5F0E8"/>
                </a:solidFill>
                <a:latin typeface="Segoe UI" panose="020B0502040204020203"/>
              </a:rPr>
              <a:t>Hurtos 2010–2026</a:t>
            </a:r>
            <a:endParaRPr sz="1400" b="1">
              <a:solidFill>
                <a:srgbClr val="F5F0E8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9D9B98"/>
                </a:solidFill>
                <a:latin typeface="Segoe UI" panose="020B0502040204020203"/>
              </a:rPr>
              <a:t>Secretaría / Alcaldía de Cali, con comuna, hora, modalidad y sitio</a:t>
            </a:r>
            <a:endParaRPr sz="1200" b="0">
              <a:solidFill>
                <a:srgbClr val="9D9B98"/>
              </a:solidFill>
              <a:latin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459403" y="1874519"/>
            <a:ext cx="2499283" cy="1600200"/>
          </a:xfrm>
          <a:prstGeom prst="roundRect">
            <a:avLst>
              <a:gd name="adj" fmla="val 8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8003" y="2075687"/>
            <a:ext cx="204208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FF5A36"/>
                </a:solidFill>
                <a:latin typeface="Segoe UI" panose="020B0502040204020203"/>
              </a:rPr>
              <a:t>62,8k</a:t>
            </a:r>
            <a:endParaRPr sz="4000" b="1">
              <a:solidFill>
                <a:srgbClr val="FF5A36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88003" y="2743199"/>
            <a:ext cx="204208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5F0E8"/>
                </a:solidFill>
                <a:latin typeface="Segoe UI" panose="020B0502040204020203"/>
              </a:rPr>
              <a:t>Violencia de género</a:t>
            </a:r>
            <a:endParaRPr sz="1400" b="1">
              <a:solidFill>
                <a:srgbClr val="F5F0E8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9D9B98"/>
                </a:solidFill>
                <a:latin typeface="Segoe UI" panose="020B0502040204020203"/>
              </a:rPr>
              <a:t>Eventos en Cali 2013–2022 (datos.cali.gov.co)</a:t>
            </a:r>
            <a:endParaRPr sz="1200" b="0">
              <a:solidFill>
                <a:srgbClr val="9D9B98"/>
              </a:solidFill>
              <a:latin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33006" y="1874519"/>
            <a:ext cx="2499283" cy="1600200"/>
          </a:xfrm>
          <a:prstGeom prst="roundRect">
            <a:avLst>
              <a:gd name="adj" fmla="val 8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6" y="2075687"/>
            <a:ext cx="204208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FF5A36"/>
                </a:solidFill>
                <a:latin typeface="Segoe UI" panose="020B0502040204020203"/>
              </a:rPr>
              <a:t>52,4k</a:t>
            </a:r>
            <a:endParaRPr sz="4000" b="1">
              <a:solidFill>
                <a:srgbClr val="FF5A36"/>
              </a:solidFill>
              <a:latin typeface="Segoe U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61606" y="2743199"/>
            <a:ext cx="204208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5F0E8"/>
                </a:solidFill>
                <a:latin typeface="Segoe UI" panose="020B0502040204020203"/>
              </a:rPr>
              <a:t>Violencia intrafamiliar</a:t>
            </a:r>
            <a:endParaRPr sz="1400" b="1">
              <a:solidFill>
                <a:srgbClr val="F5F0E8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9D9B98"/>
                </a:solidFill>
                <a:latin typeface="Segoe UI" panose="020B0502040204020203"/>
              </a:rPr>
              <a:t>Casos de Cali 2003–2026 (MinDefensa · datos.gov.co)</a:t>
            </a:r>
            <a:endParaRPr sz="1200" b="0">
              <a:solidFill>
                <a:srgbClr val="9D9B98"/>
              </a:solidFill>
              <a:latin typeface="Segoe UI" panose="020B0502040204020203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006609" y="1874519"/>
            <a:ext cx="2499283" cy="1600200"/>
          </a:xfrm>
          <a:prstGeom prst="roundRect">
            <a:avLst>
              <a:gd name="adj" fmla="val 8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209" y="2075687"/>
            <a:ext cx="204208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FF5A36"/>
                </a:solidFill>
                <a:latin typeface="Segoe UI" panose="020B0502040204020203"/>
              </a:rPr>
              <a:t>22 · 339</a:t>
            </a:r>
            <a:endParaRPr sz="4000" b="1">
              <a:solidFill>
                <a:srgbClr val="FF5A36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235209" y="2743199"/>
            <a:ext cx="2042083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5F0E8"/>
                </a:solidFill>
                <a:latin typeface="Segoe UI" panose="020B0502040204020203"/>
              </a:rPr>
              <a:t>Comunas y barrios</a:t>
            </a:r>
            <a:endParaRPr sz="1400" b="1">
              <a:solidFill>
                <a:srgbClr val="F5F0E8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9D9B98"/>
                </a:solidFill>
                <a:latin typeface="Segoe UI" panose="020B0502040204020203"/>
              </a:rPr>
              <a:t>Polígonos oficiales IDESC + 60 CAI + 45 servicios de salud</a:t>
            </a:r>
            <a:endParaRPr sz="1200" b="0">
              <a:solidFill>
                <a:srgbClr val="9D9B98"/>
              </a:solidFill>
              <a:latin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5800" y="3977639"/>
            <a:ext cx="10820095" cy="233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FF5A36"/>
                </a:solidFill>
                <a:latin typeface="Segoe UI" panose="020B0502040204020203"/>
              </a:rPr>
              <a:t>—  </a:t>
            </a:r>
            <a:r>
              <a:rPr sz="1500" b="1">
                <a:solidFill>
                  <a:srgbClr val="F5F0E8"/>
                </a:solidFill>
                <a:latin typeface="Segoe UI" panose="020B0502040204020203"/>
              </a:rPr>
              <a:t>Ciclo de vida versionado.  </a:t>
            </a:r>
            <a:r>
              <a:rPr sz="1400" b="0">
                <a:solidFill>
                  <a:srgbClr val="9D9B98"/>
                </a:solidFill>
                <a:latin typeface="Segoe UI" panose="020B0502040204020203"/>
              </a:rPr>
              <a:t>data/01_raw (Excel originales) → ingesta reproducible → data/03_primary (CSVs limpios) → data/04_model_output (predicciones).</a:t>
            </a:r>
            <a:endParaRPr sz="14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FF5A36"/>
                </a:solidFill>
                <a:latin typeface="Segoe UI" panose="020B0502040204020203"/>
              </a:rPr>
              <a:t>—  </a:t>
            </a:r>
            <a:r>
              <a:rPr sz="1500" b="1">
                <a:solidFill>
                  <a:srgbClr val="F5F0E8"/>
                </a:solidFill>
                <a:latin typeface="Segoe UI" panose="020B0502040204020203"/>
              </a:rPr>
              <a:t>Privacidad por diseño.  </a:t>
            </a:r>
            <a:r>
              <a:rPr sz="1400" b="0">
                <a:solidFill>
                  <a:srgbClr val="9D9B98"/>
                </a:solidFill>
                <a:latin typeface="Segoe UI" panose="020B0502040204020203"/>
              </a:rPr>
              <a:t>todo se agrega por comuna y franja horaria; nunca hay datos de personas.</a:t>
            </a:r>
            <a:endParaRPr sz="14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FF5A36"/>
                </a:solidFill>
                <a:latin typeface="Segoe UI" panose="020B0502040204020203"/>
              </a:rPr>
              <a:t>—  </a:t>
            </a:r>
            <a:r>
              <a:rPr sz="1500" b="1">
                <a:solidFill>
                  <a:srgbClr val="F5F0E8"/>
                </a:solidFill>
                <a:latin typeface="Segoe UI" panose="020B0502040204020203"/>
              </a:rPr>
              <a:t>Contexto del mapa.  </a:t>
            </a:r>
            <a:r>
              <a:rPr sz="1400" b="0">
                <a:solidFill>
                  <a:srgbClr val="9D9B98"/>
                </a:solidFill>
                <a:latin typeface="Segoe UI" panose="020B0502040204020203"/>
              </a:rPr>
              <a:t>sitios turísticos (Sec. Turismo), ríos (OSM), 88 estaciones del MIO, 396 bahías de taxi (DAPM) y población DAPM para tasas /100k.</a:t>
            </a:r>
            <a:endParaRPr sz="1400" b="0">
              <a:solidFill>
                <a:srgbClr val="9D9B98"/>
              </a:solidFill>
              <a:latin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9D9B98"/>
                </a:solidFill>
                <a:latin typeface="Segoe UI" panose="020B0502040204020203"/>
              </a:rPr>
              <a:t>Pilas</a:t>
            </a:r>
            <a:r>
              <a:rPr sz="1100" b="0">
                <a:solidFill>
                  <a:srgbClr val="5E5D5C"/>
                </a:solidFill>
                <a:latin typeface="Segoe UI" panose="020B0502040204020203"/>
              </a:rPr>
              <a:t>  ·  Datos al Ecosistema 2026 — MinTIC  ·  Cali</a:t>
            </a:r>
            <a:endParaRPr sz="1100" b="0">
              <a:solidFill>
                <a:srgbClr val="5E5D5C"/>
              </a:solidFill>
              <a:latin typeface="Segoe UI" panose="020B05020402040202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91495" y="641908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E5D5C"/>
                </a:solidFill>
                <a:latin typeface="Segoe UI" panose="020B0502040204020203"/>
              </a:rPr>
              <a:t>04</a:t>
            </a:r>
            <a:endParaRPr sz="1100" b="0">
              <a:solidFill>
                <a:srgbClr val="5E5D5C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5A36"/>
                </a:solidFill>
                <a:latin typeface="Segoe UI" panose="020B0502040204020203"/>
              </a:rPr>
              <a:t>METODOLOGÍA · CRISP-ML</a:t>
            </a:r>
            <a:endParaRPr sz="1300" b="1">
              <a:solidFill>
                <a:srgbClr val="FF5A36"/>
              </a:solidFill>
              <a:latin typeface="Segoe UI" panose="020B05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5F0E8"/>
                </a:solidFill>
                <a:latin typeface="Segoe UI" panose="020B0502040204020203"/>
              </a:rPr>
              <a:t>Un pipeline reproducible de punta a punta</a:t>
            </a:r>
            <a:endParaRPr sz="3400" b="1">
              <a:solidFill>
                <a:srgbClr val="F5F0E8"/>
              </a:solidFill>
              <a:latin typeface="Segoe UI" panose="020B0502040204020203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2533573" cy="2286000"/>
          </a:xfrm>
          <a:prstGeom prst="roundRect">
            <a:avLst>
              <a:gd name="adj" fmla="val 8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874519"/>
            <a:ext cx="54864" cy="228600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103120"/>
            <a:ext cx="207637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5A36"/>
                </a:solidFill>
                <a:latin typeface="Segoe UI" panose="020B0502040204020203"/>
              </a:rPr>
              <a:t>01 · Ingesta</a:t>
            </a:r>
            <a:endParaRPr sz="1600" b="1">
              <a:solidFill>
                <a:srgbClr val="FF5A36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41832" y="2606040"/>
            <a:ext cx="2076373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F5F0E8"/>
                </a:solidFill>
                <a:latin typeface="Segoe UI" panose="020B0502040204020203"/>
              </a:rPr>
              <a:t>Excel crudos → malla comuna × hora × día × mes (162k celdas) y catálogos limpios</a:t>
            </a:r>
            <a:endParaRPr sz="1350" b="0">
              <a:solidFill>
                <a:srgbClr val="F5F0E8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447973" y="1874519"/>
            <a:ext cx="2533573" cy="2286000"/>
          </a:xfrm>
          <a:prstGeom prst="roundRect">
            <a:avLst>
              <a:gd name="adj" fmla="val 8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47973" y="1874519"/>
            <a:ext cx="54864" cy="228600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4005" y="2103120"/>
            <a:ext cx="207637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5A36"/>
                </a:solidFill>
                <a:latin typeface="Segoe UI" panose="020B0502040204020203"/>
              </a:rPr>
              <a:t>02 · Modelado</a:t>
            </a:r>
            <a:endParaRPr sz="1600" b="1">
              <a:solidFill>
                <a:srgbClr val="FF5A36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04005" y="2606040"/>
            <a:ext cx="2076373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F5F0E8"/>
                </a:solidFill>
                <a:latin typeface="Segoe UI" panose="020B0502040204020203"/>
              </a:rPr>
              <a:t>XGBoost Poisson con features de calendario; ceros materializados para aprender tasas</a:t>
            </a:r>
            <a:endParaRPr sz="1350" b="0">
              <a:solidFill>
                <a:srgbClr val="F5F0E8"/>
              </a:solidFill>
              <a:latin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0146" y="1874519"/>
            <a:ext cx="2533573" cy="2286000"/>
          </a:xfrm>
          <a:prstGeom prst="roundRect">
            <a:avLst>
              <a:gd name="adj" fmla="val 8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0146" y="1874519"/>
            <a:ext cx="54864" cy="228600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6178" y="2103120"/>
            <a:ext cx="207637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5A36"/>
                </a:solidFill>
                <a:latin typeface="Segoe UI" panose="020B0502040204020203"/>
              </a:rPr>
              <a:t>03 · Evaluación</a:t>
            </a:r>
            <a:endParaRPr sz="1600" b="1">
              <a:solidFill>
                <a:srgbClr val="FF5A36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66178" y="2606040"/>
            <a:ext cx="2076373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F5F0E8"/>
                </a:solidFill>
                <a:latin typeface="Segoe UI" panose="020B0502040204020203"/>
              </a:rPr>
              <a:t>split temporal 2010–2017 / 2018 — nada del futuro se filtra al entrenamiento</a:t>
            </a:r>
            <a:endParaRPr sz="1350" b="0">
              <a:solidFill>
                <a:srgbClr val="F5F0E8"/>
              </a:solidFill>
              <a:latin typeface="Segoe UI" panose="020B0502040204020203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972319" y="1874519"/>
            <a:ext cx="2533573" cy="2286000"/>
          </a:xfrm>
          <a:prstGeom prst="roundRect">
            <a:avLst>
              <a:gd name="adj" fmla="val 8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72319" y="1874519"/>
            <a:ext cx="54864" cy="228600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8351" y="2103120"/>
            <a:ext cx="207637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5A36"/>
                </a:solidFill>
                <a:latin typeface="Segoe UI" panose="020B0502040204020203"/>
              </a:rPr>
              <a:t>04 · Servicio</a:t>
            </a:r>
            <a:endParaRPr sz="1600" b="1">
              <a:solidFill>
                <a:srgbClr val="FF5A36"/>
              </a:solidFill>
              <a:latin typeface="Segoe U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228351" y="2606040"/>
            <a:ext cx="2076373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F5F0E8"/>
                </a:solidFill>
                <a:latin typeface="Segoe UI" panose="020B0502040204020203"/>
              </a:rPr>
              <a:t>FastAPI carga el artefacto y sirve /risk, /zones y /gov/* en vivo</a:t>
            </a:r>
            <a:endParaRPr sz="1350" b="0">
              <a:solidFill>
                <a:srgbClr val="F5F0E8"/>
              </a:solidFill>
              <a:latin typeface="Segoe UI" panose="020B05020402040202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4572000"/>
            <a:ext cx="1082009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F5F0E8"/>
                </a:solidFill>
                <a:latin typeface="Segoe UI" panose="020B0502040204020203"/>
              </a:rPr>
              <a:t>Reproducible con un comando:  </a:t>
            </a:r>
            <a:r>
              <a:rPr sz="1500" b="1">
                <a:solidFill>
                  <a:srgbClr val="FFB454"/>
                </a:solidFill>
                <a:latin typeface="Consolas" panose="020B0609020204030204"/>
              </a:rPr>
              <a:t>python pipelines/pipeline_ml.py</a:t>
            </a:r>
            <a:r>
              <a:rPr sz="1500" b="0">
                <a:solidFill>
                  <a:srgbClr val="9D9B98"/>
                </a:solidFill>
                <a:latin typeface="Segoe UI" panose="020B0502040204020203"/>
              </a:rPr>
              <a:t>  regenera datos primarios, modelo y predicciones desde los Excel. 11 pruebas automatizadas (calidad de datos + consistencia de inferencia) corren en CI con GitHub Actions.</a:t>
            </a:r>
            <a:endParaRPr sz="1500" b="0">
              <a:solidFill>
                <a:srgbClr val="9D9B98"/>
              </a:solidFill>
              <a:latin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9D9B98"/>
                </a:solidFill>
                <a:latin typeface="Segoe UI" panose="020B0502040204020203"/>
              </a:rPr>
              <a:t>Pilas</a:t>
            </a:r>
            <a:r>
              <a:rPr sz="1100" b="0">
                <a:solidFill>
                  <a:srgbClr val="5E5D5C"/>
                </a:solidFill>
                <a:latin typeface="Segoe UI" panose="020B0502040204020203"/>
              </a:rPr>
              <a:t>  ·  Datos al Ecosistema 2026 — MinTIC  ·  Cali</a:t>
            </a:r>
            <a:endParaRPr sz="1100" b="0">
              <a:solidFill>
                <a:srgbClr val="5E5D5C"/>
              </a:solidFill>
              <a:latin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91495" y="641908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E5D5C"/>
                </a:solidFill>
                <a:latin typeface="Segoe UI" panose="020B0502040204020203"/>
              </a:rPr>
              <a:t>05</a:t>
            </a:r>
            <a:endParaRPr sz="1100" b="0">
              <a:solidFill>
                <a:srgbClr val="5E5D5C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5A36"/>
                </a:solidFill>
                <a:latin typeface="Segoe UI" panose="020B0502040204020203"/>
              </a:rPr>
              <a:t>EL MODELO</a:t>
            </a:r>
            <a:endParaRPr sz="1300" b="1">
              <a:solidFill>
                <a:srgbClr val="FF5A36"/>
              </a:solidFill>
              <a:latin typeface="Segoe UI" panose="020B05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5F0E8"/>
                </a:solidFill>
                <a:latin typeface="Segoe UI" panose="020B0502040204020203"/>
              </a:rPr>
              <a:t>XGBoost Poisson: tasa de incidentes por celda espacio-temporal</a:t>
            </a:r>
            <a:endParaRPr sz="3400" b="1">
              <a:solidFill>
                <a:srgbClr val="F5F0E8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2331720"/>
            <a:ext cx="10820095" cy="3977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FF5A36"/>
                </a:solidFill>
                <a:latin typeface="Segoe UI" panose="020B0502040204020203"/>
              </a:rPr>
              <a:t>—  </a:t>
            </a:r>
            <a:r>
              <a:rPr sz="1600" b="1">
                <a:solidFill>
                  <a:srgbClr val="F5F0E8"/>
                </a:solidFill>
                <a:latin typeface="Segoe UI" panose="020B0502040204020203"/>
              </a:rPr>
              <a:t>Target.  </a:t>
            </a:r>
            <a:r>
              <a:rPr sz="1500" b="0">
                <a:solidFill>
                  <a:srgbClr val="9D9B98"/>
                </a:solidFill>
                <a:latin typeface="Segoe UI" panose="020B0502040204020203"/>
              </a:rPr>
              <a:t>conteo de hurtos por (comuna, hora, día de semana, mes, festivo) — regresión Poisson, no clasificación.</a:t>
            </a:r>
            <a:endParaRPr sz="15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FF5A36"/>
                </a:solidFill>
                <a:latin typeface="Segoe UI" panose="020B0502040204020203"/>
              </a:rPr>
              <a:t>—  </a:t>
            </a:r>
            <a:r>
              <a:rPr sz="1600" b="1">
                <a:solidFill>
                  <a:srgbClr val="F5F0E8"/>
                </a:solidFill>
                <a:latin typeface="Segoe UI" panose="020B0502040204020203"/>
              </a:rPr>
              <a:t>Features honestas y explicables.  </a:t>
            </a:r>
            <a:r>
              <a:rPr sz="1500" b="0">
                <a:solidFill>
                  <a:srgbClr val="9D9B98"/>
                </a:solidFill>
                <a:latin typeface="Segoe UI" panose="020B0502040204020203"/>
              </a:rPr>
              <a:t>comuna · hora y mes codificados como seno/coseno (la 23h es vecina de la 0h) · día de semana · fin de semana · festivo colombiano (Ley Emiliani).</a:t>
            </a:r>
            <a:endParaRPr sz="15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FF5A36"/>
                </a:solidFill>
                <a:latin typeface="Segoe UI" panose="020B0502040204020203"/>
              </a:rPr>
              <a:t>—  </a:t>
            </a:r>
            <a:r>
              <a:rPr sz="1600" b="1">
                <a:solidFill>
                  <a:srgbClr val="F5F0E8"/>
                </a:solidFill>
                <a:latin typeface="Segoe UI" panose="020B0502040204020203"/>
              </a:rPr>
              <a:t>Validación temporal estricta.  </a:t>
            </a:r>
            <a:r>
              <a:rPr sz="1500" b="0">
                <a:solidFill>
                  <a:srgbClr val="9D9B98"/>
                </a:solidFill>
                <a:latin typeface="Segoe UI" panose="020B0502040204020203"/>
              </a:rPr>
              <a:t>entrena 2010–2017, valida en 2018 completo; métricas guardadas en models/model_meta.json y expuestas en /metrics.</a:t>
            </a:r>
            <a:endParaRPr sz="15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FF5A36"/>
                </a:solidFill>
                <a:latin typeface="Segoe UI" panose="020B0502040204020203"/>
              </a:rPr>
              <a:t>—  </a:t>
            </a:r>
            <a:r>
              <a:rPr sz="1600" b="1">
                <a:solidFill>
                  <a:srgbClr val="F5F0E8"/>
                </a:solidFill>
                <a:latin typeface="Segoe UI" panose="020B0502040204020203"/>
              </a:rPr>
              <a:t>Riesgo comunicable.  </a:t>
            </a:r>
            <a:r>
              <a:rPr sz="1500" b="0">
                <a:solidFill>
                  <a:srgbClr val="9D9B98"/>
                </a:solidFill>
                <a:latin typeface="Segoe UI" panose="020B0502040204020203"/>
              </a:rPr>
              <a:t>la tasa se normaliza a 0–100 con percentiles de referencia (p5–p98) y se traduce a los 4 niveles de la batería.</a:t>
            </a:r>
            <a:endParaRPr sz="1500" b="0">
              <a:solidFill>
                <a:srgbClr val="9D9B98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9D9B98"/>
                </a:solidFill>
                <a:latin typeface="Segoe UI" panose="020B0502040204020203"/>
              </a:rPr>
              <a:t>Pilas</a:t>
            </a:r>
            <a:r>
              <a:rPr sz="1100" b="0">
                <a:solidFill>
                  <a:srgbClr val="5E5D5C"/>
                </a:solidFill>
                <a:latin typeface="Segoe UI" panose="020B0502040204020203"/>
              </a:rPr>
              <a:t>  ·  Datos al Ecosistema 2026 — MinTIC  ·  Cali</a:t>
            </a:r>
            <a:endParaRPr sz="1100" b="0">
              <a:solidFill>
                <a:srgbClr val="5E5D5C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91495" y="641908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E5D5C"/>
                </a:solidFill>
                <a:latin typeface="Segoe UI" panose="020B0502040204020203"/>
              </a:rPr>
              <a:t>06</a:t>
            </a:r>
            <a:endParaRPr sz="1100" b="0">
              <a:solidFill>
                <a:srgbClr val="5E5D5C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5A36"/>
                </a:solidFill>
                <a:latin typeface="Segoe UI" panose="020B0502040204020203"/>
              </a:rPr>
              <a:t>RESULTADOS</a:t>
            </a:r>
            <a:endParaRPr sz="1300" b="1">
              <a:solidFill>
                <a:srgbClr val="FF5A36"/>
              </a:solidFill>
              <a:latin typeface="Segoe UI" panose="020B05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5F0E8"/>
                </a:solidFill>
                <a:latin typeface="Segoe UI" panose="020B0502040204020203"/>
              </a:rPr>
              <a:t>El modelo encuentra el patrón real del riesgo</a:t>
            </a:r>
            <a:endParaRPr sz="3400" b="1">
              <a:solidFill>
                <a:srgbClr val="F5F0E8"/>
              </a:solidFill>
              <a:latin typeface="Segoe UI" panose="020B0502040204020203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3423818" cy="1600200"/>
          </a:xfrm>
          <a:prstGeom prst="roundRect">
            <a:avLst>
              <a:gd name="adj" fmla="val 8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75687"/>
            <a:ext cx="296661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FF5A36"/>
                </a:solidFill>
                <a:latin typeface="Segoe UI" panose="020B0502040204020203"/>
              </a:rPr>
              <a:t>0.73</a:t>
            </a:r>
            <a:endParaRPr sz="4000" b="1">
              <a:solidFill>
                <a:srgbClr val="FF5A36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743199"/>
            <a:ext cx="296661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5F0E8"/>
                </a:solidFill>
                <a:latin typeface="Segoe UI" panose="020B0502040204020203"/>
              </a:rPr>
              <a:t>ROC-AUC</a:t>
            </a:r>
            <a:endParaRPr sz="1400" b="1">
              <a:solidFill>
                <a:srgbClr val="F5F0E8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9D9B98"/>
                </a:solidFill>
                <a:latin typeface="Segoe UI" panose="020B0502040204020203"/>
              </a:rPr>
              <a:t>identificando celdas de alto riesgo en 2018 (año nunca visto)</a:t>
            </a:r>
            <a:endParaRPr sz="1200" b="0">
              <a:solidFill>
                <a:srgbClr val="9D9B98"/>
              </a:solidFill>
              <a:latin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83938" y="1874519"/>
            <a:ext cx="3423818" cy="1600200"/>
          </a:xfrm>
          <a:prstGeom prst="roundRect">
            <a:avLst>
              <a:gd name="adj" fmla="val 8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2538" y="2075687"/>
            <a:ext cx="296661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FF5A36"/>
                </a:solidFill>
                <a:latin typeface="Segoe UI" panose="020B0502040204020203"/>
              </a:rPr>
              <a:t>0.41</a:t>
            </a:r>
            <a:endParaRPr sz="4000" b="1">
              <a:solidFill>
                <a:srgbClr val="FF5A36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12538" y="2743199"/>
            <a:ext cx="296661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5F0E8"/>
                </a:solidFill>
                <a:latin typeface="Segoe UI" panose="020B0502040204020203"/>
              </a:rPr>
              <a:t>Precision@K</a:t>
            </a:r>
            <a:endParaRPr sz="1400" b="1">
              <a:solidFill>
                <a:srgbClr val="F5F0E8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9D9B98"/>
                </a:solidFill>
                <a:latin typeface="Segoe UI" panose="020B0502040204020203"/>
              </a:rPr>
              <a:t>de las K celdas señaladas como más riesgosas, 41% lo fueron</a:t>
            </a:r>
            <a:endParaRPr sz="1200" b="0">
              <a:solidFill>
                <a:srgbClr val="9D9B98"/>
              </a:solidFill>
              <a:latin typeface="Segoe UI" panose="020B0502040204020203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82076" y="1874519"/>
            <a:ext cx="3423818" cy="1600200"/>
          </a:xfrm>
          <a:prstGeom prst="roundRect">
            <a:avLst>
              <a:gd name="adj" fmla="val 8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0676" y="2075687"/>
            <a:ext cx="296661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FF5A36"/>
                </a:solidFill>
                <a:latin typeface="Segoe UI" panose="020B0502040204020203"/>
              </a:rPr>
              <a:t>0.62</a:t>
            </a:r>
            <a:endParaRPr sz="4000" b="1">
              <a:solidFill>
                <a:srgbClr val="FF5A36"/>
              </a:solidFill>
              <a:latin typeface="Segoe UI" panose="020B05020402040202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10676" y="2743199"/>
            <a:ext cx="296661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5F0E8"/>
                </a:solidFill>
                <a:latin typeface="Segoe UI" panose="020B0502040204020203"/>
              </a:rPr>
              <a:t>MAE</a:t>
            </a:r>
            <a:endParaRPr sz="1400" b="1">
              <a:solidFill>
                <a:srgbClr val="F5F0E8"/>
              </a:solidFill>
              <a:latin typeface="Segoe UI" panose="020B0502040204020203"/>
            </a:endParaRP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9D9B98"/>
                </a:solidFill>
                <a:latin typeface="Segoe UI" panose="020B0502040204020203"/>
              </a:rPr>
              <a:t>error absoluto medio del conteo por celda</a:t>
            </a:r>
            <a:endParaRPr sz="1200" b="0">
              <a:solidFill>
                <a:srgbClr val="9D9B98"/>
              </a:solidFill>
              <a:latin typeface="Segoe UI" panose="020B0502040204020203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3977639"/>
            <a:ext cx="10820095" cy="233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FF5A36"/>
                </a:solidFill>
                <a:latin typeface="Segoe UI" panose="020B0502040204020203"/>
              </a:rPr>
              <a:t>—  </a:t>
            </a:r>
            <a:r>
              <a:rPr sz="1500" b="1">
                <a:solidFill>
                  <a:srgbClr val="F5F0E8"/>
                </a:solidFill>
                <a:latin typeface="Segoe UI" panose="020B0502040204020203"/>
              </a:rPr>
              <a:t>El riesgo no es plano.  </a:t>
            </a:r>
            <a:r>
              <a:rPr sz="1400" b="0">
                <a:solidFill>
                  <a:srgbClr val="9D9B98"/>
                </a:solidFill>
                <a:latin typeface="Segoe UI" panose="020B0502040204020203"/>
              </a:rPr>
              <a:t>varía más por hora y día que por mes: los picos se concentran en noches de viernes y sábado, con contrastes fuertes entre comunas.</a:t>
            </a:r>
            <a:endParaRPr sz="14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FF5A36"/>
                </a:solidFill>
                <a:latin typeface="Segoe UI" panose="020B0502040204020203"/>
              </a:rPr>
              <a:t>—  </a:t>
            </a:r>
            <a:r>
              <a:rPr sz="1500" b="1">
                <a:solidFill>
                  <a:srgbClr val="F5F0E8"/>
                </a:solidFill>
                <a:latin typeface="Segoe UI" panose="020B0502040204020203"/>
              </a:rPr>
              <a:t>SHAP confirma la intuición.  </a:t>
            </a:r>
            <a:r>
              <a:rPr sz="1400" b="0">
                <a:solidFill>
                  <a:srgbClr val="9D9B98"/>
                </a:solidFill>
                <a:latin typeface="Segoe UI" panose="020B0502040204020203"/>
              </a:rPr>
              <a:t>hora y comuna dominan la predicción; el modelo responde «¿por qué este riesgo?» en la propia app.</a:t>
            </a:r>
            <a:endParaRPr sz="14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FF5A36"/>
                </a:solidFill>
                <a:latin typeface="Segoe UI" panose="020B0502040204020203"/>
              </a:rPr>
              <a:t>—  </a:t>
            </a:r>
            <a:r>
              <a:rPr sz="1500" b="1">
                <a:solidFill>
                  <a:srgbClr val="F5F0E8"/>
                </a:solidFill>
                <a:latin typeface="Segoe UI" panose="020B0502040204020203"/>
              </a:rPr>
              <a:t>Predicción en vivo.  </a:t>
            </a:r>
            <a:r>
              <a:rPr sz="1400" b="0">
                <a:solidFill>
                  <a:srgbClr val="9D9B98"/>
                </a:solidFill>
                <a:latin typeface="Segoe UI" panose="020B0502040204020203"/>
              </a:rPr>
              <a:t>cada zona muestra su curva 24h y el mapa se recolorea con el scrubber de hora.</a:t>
            </a:r>
            <a:endParaRPr sz="1400" b="0">
              <a:solidFill>
                <a:srgbClr val="9D9B98"/>
              </a:solidFill>
              <a:latin typeface="Segoe UI" panose="020B05020402040202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9D9B98"/>
                </a:solidFill>
                <a:latin typeface="Segoe UI" panose="020B0502040204020203"/>
              </a:rPr>
              <a:t>Pilas</a:t>
            </a:r>
            <a:r>
              <a:rPr sz="1100" b="0">
                <a:solidFill>
                  <a:srgbClr val="5E5D5C"/>
                </a:solidFill>
                <a:latin typeface="Segoe UI" panose="020B0502040204020203"/>
              </a:rPr>
              <a:t>  ·  Datos al Ecosistema 2026 — MinTIC  ·  Cali</a:t>
            </a:r>
            <a:endParaRPr sz="1100" b="0">
              <a:solidFill>
                <a:srgbClr val="5E5D5C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91495" y="641908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E5D5C"/>
                </a:solidFill>
                <a:latin typeface="Segoe UI" panose="020B0502040204020203"/>
              </a:rPr>
              <a:t>07</a:t>
            </a:r>
            <a:endParaRPr sz="1100" b="0">
              <a:solidFill>
                <a:srgbClr val="5E5D5C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5A36"/>
                </a:solidFill>
                <a:latin typeface="Segoe UI" panose="020B0502040204020203"/>
              </a:rPr>
              <a:t>ARQUITECTURA</a:t>
            </a:r>
            <a:endParaRPr sz="1300" b="1">
              <a:solidFill>
                <a:srgbClr val="FF5A36"/>
              </a:solidFill>
              <a:latin typeface="Segoe UI" panose="020B05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5F0E8"/>
                </a:solidFill>
                <a:latin typeface="Segoe UI" panose="020B0502040204020203"/>
              </a:rPr>
              <a:t>De los Excel a la pantalla, con degradación elegante</a:t>
            </a:r>
            <a:endParaRPr sz="3400" b="1">
              <a:solidFill>
                <a:srgbClr val="F5F0E8"/>
              </a:solidFill>
              <a:latin typeface="Segoe UI" panose="020B0502040204020203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1761683" cy="1188720"/>
          </a:xfrm>
          <a:prstGeom prst="roundRect">
            <a:avLst>
              <a:gd name="adj" fmla="val 12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176272"/>
            <a:ext cx="176168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5F0E8"/>
                </a:solidFill>
                <a:latin typeface="Consolas" panose="020B0609020204030204"/>
              </a:rPr>
              <a:t>data/01_raw</a:t>
            </a:r>
            <a:endParaRPr sz="1500" b="1">
              <a:solidFill>
                <a:srgbClr val="F5F0E8"/>
              </a:solidFill>
              <a:latin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2606040"/>
            <a:ext cx="176168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D9B98"/>
                </a:solidFill>
                <a:latin typeface="Segoe UI" panose="020B0502040204020203"/>
              </a:rPr>
              <a:t>Excel oficiales</a:t>
            </a:r>
            <a:endParaRPr sz="1200" b="0">
              <a:solidFill>
                <a:srgbClr val="9D9B98"/>
              </a:solidFill>
              <a:latin typeface="Segoe UI" panose="020B05020402040202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47483" y="228600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5A36"/>
                </a:solidFill>
                <a:latin typeface="Segoe UI" panose="020B0502040204020203"/>
              </a:rPr>
              <a:t>→</a:t>
            </a:r>
            <a:endParaRPr sz="2200" b="1">
              <a:solidFill>
                <a:srgbClr val="FF5A36"/>
              </a:solidFill>
              <a:latin typeface="Segoe UI" panose="020B0502040204020203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950403" y="1965960"/>
            <a:ext cx="1761683" cy="1188720"/>
          </a:xfrm>
          <a:prstGeom prst="roundRect">
            <a:avLst>
              <a:gd name="adj" fmla="val 12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50403" y="2176272"/>
            <a:ext cx="176168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5F0E8"/>
                </a:solidFill>
                <a:latin typeface="Consolas" panose="020B0609020204030204"/>
              </a:rPr>
              <a:t>ml/ingest</a:t>
            </a:r>
            <a:endParaRPr sz="1500" b="1">
              <a:solidFill>
                <a:srgbClr val="F5F0E8"/>
              </a:solidFill>
              <a:latin typeface="Consolas" panose="020B0609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50403" y="2606040"/>
            <a:ext cx="176168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D9B98"/>
                </a:solidFill>
                <a:latin typeface="Segoe UI" panose="020B0502040204020203"/>
              </a:rPr>
              <a:t>limpieza + malla</a:t>
            </a:r>
            <a:endParaRPr sz="1200" b="0">
              <a:solidFill>
                <a:srgbClr val="9D9B98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12086" y="228600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5A36"/>
                </a:solidFill>
                <a:latin typeface="Segoe UI" panose="020B0502040204020203"/>
              </a:rPr>
              <a:t>→</a:t>
            </a:r>
            <a:endParaRPr sz="2200" b="1">
              <a:solidFill>
                <a:srgbClr val="FF5A36"/>
              </a:solidFill>
              <a:latin typeface="Segoe UI" panose="020B0502040204020203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215006" y="1965960"/>
            <a:ext cx="1761683" cy="1188720"/>
          </a:xfrm>
          <a:prstGeom prst="roundRect">
            <a:avLst>
              <a:gd name="adj" fmla="val 12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5006" y="2176272"/>
            <a:ext cx="176168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5F0E8"/>
                </a:solidFill>
                <a:latin typeface="Consolas" panose="020B0609020204030204"/>
              </a:rPr>
              <a:t>XGBoost</a:t>
            </a:r>
            <a:endParaRPr sz="1500" b="1">
              <a:solidFill>
                <a:srgbClr val="F5F0E8"/>
              </a:solidFill>
              <a:latin typeface="Consolas" panose="020B0609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215006" y="2606040"/>
            <a:ext cx="176168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D9B98"/>
                </a:solidFill>
                <a:latin typeface="Segoe UI" panose="020B0502040204020203"/>
              </a:rPr>
              <a:t>models/</a:t>
            </a:r>
            <a:endParaRPr sz="1200" b="0">
              <a:solidFill>
                <a:srgbClr val="9D9B98"/>
              </a:solidFill>
              <a:latin typeface="Segoe UI" panose="020B0502040204020203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76689" y="228600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5A36"/>
                </a:solidFill>
                <a:latin typeface="Segoe UI" panose="020B0502040204020203"/>
              </a:rPr>
              <a:t>→</a:t>
            </a:r>
            <a:endParaRPr sz="2200" b="1">
              <a:solidFill>
                <a:srgbClr val="FF5A36"/>
              </a:solidFill>
              <a:latin typeface="Segoe UI" panose="020B0502040204020203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479609" y="1965960"/>
            <a:ext cx="1761683" cy="1188720"/>
          </a:xfrm>
          <a:prstGeom prst="roundRect">
            <a:avLst>
              <a:gd name="adj" fmla="val 12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9609" y="2176272"/>
            <a:ext cx="176168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5F0E8"/>
                </a:solidFill>
                <a:latin typeface="Consolas" panose="020B0609020204030204"/>
              </a:rPr>
              <a:t>FastAPI</a:t>
            </a:r>
            <a:endParaRPr sz="1500" b="1">
              <a:solidFill>
                <a:srgbClr val="F5F0E8"/>
              </a:solidFill>
              <a:latin typeface="Consolas" panose="020B0609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79609" y="2606040"/>
            <a:ext cx="176168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D9B98"/>
                </a:solidFill>
                <a:latin typeface="Segoe UI" panose="020B0502040204020203"/>
              </a:rPr>
              <a:t>Render · /risk</a:t>
            </a:r>
            <a:endParaRPr sz="1200" b="0">
              <a:solidFill>
                <a:srgbClr val="9D9B98"/>
              </a:solidFill>
              <a:latin typeface="Segoe UI" panose="020B0502040204020203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241292" y="2286000"/>
            <a:ext cx="502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5A36"/>
                </a:solidFill>
                <a:latin typeface="Segoe UI" panose="020B0502040204020203"/>
              </a:rPr>
              <a:t>→</a:t>
            </a:r>
            <a:endParaRPr sz="2200" b="1">
              <a:solidFill>
                <a:srgbClr val="FF5A36"/>
              </a:solidFill>
              <a:latin typeface="Segoe UI" panose="020B0502040204020203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744212" y="1965960"/>
            <a:ext cx="1761683" cy="1188720"/>
          </a:xfrm>
          <a:prstGeom prst="roundRect">
            <a:avLst>
              <a:gd name="adj" fmla="val 12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44212" y="2176272"/>
            <a:ext cx="176168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5F0E8"/>
                </a:solidFill>
                <a:latin typeface="Consolas" panose="020B0609020204030204"/>
              </a:rPr>
              <a:t>React + Vite</a:t>
            </a:r>
            <a:endParaRPr sz="1500" b="1">
              <a:solidFill>
                <a:srgbClr val="F5F0E8"/>
              </a:solidFill>
              <a:latin typeface="Consolas" panose="020B0609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744212" y="2606040"/>
            <a:ext cx="176168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9D9B98"/>
                </a:solidFill>
                <a:latin typeface="Segoe UI" panose="020B0502040204020203"/>
              </a:rPr>
              <a:t>Vercel · 2 apps</a:t>
            </a:r>
            <a:endParaRPr sz="1200" b="0">
              <a:solidFill>
                <a:srgbClr val="9D9B98"/>
              </a:solidFill>
              <a:latin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3794760"/>
            <a:ext cx="10820095" cy="2514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FF5A36"/>
                </a:solidFill>
                <a:latin typeface="Segoe UI" panose="020B0502040204020203"/>
              </a:rPr>
              <a:t>—  </a:t>
            </a:r>
            <a:r>
              <a:rPr sz="1500" b="1">
                <a:solidFill>
                  <a:srgbClr val="F5F0E8"/>
                </a:solidFill>
                <a:latin typeface="Segoe UI" panose="020B0502040204020203"/>
              </a:rPr>
              <a:t>Sin modelo, la API sigue.  </a:t>
            </a:r>
            <a:r>
              <a:rPr sz="1400" b="0">
                <a:solidFill>
                  <a:srgbClr val="9D9B98"/>
                </a:solidFill>
                <a:latin typeface="Segoe UI" panose="020B0502040204020203"/>
              </a:rPr>
              <a:t>fallback analítico (riesgo base × patrón horario) con el mismo contrato JSON.</a:t>
            </a:r>
            <a:endParaRPr sz="14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FF5A36"/>
                </a:solidFill>
                <a:latin typeface="Segoe UI" panose="020B0502040204020203"/>
              </a:rPr>
              <a:t>—  </a:t>
            </a:r>
            <a:r>
              <a:rPr sz="1500" b="1">
                <a:solidFill>
                  <a:srgbClr val="F5F0E8"/>
                </a:solidFill>
                <a:latin typeface="Segoe UI" panose="020B0502040204020203"/>
              </a:rPr>
              <a:t>Sin backend, la app sigue.  </a:t>
            </a:r>
            <a:r>
              <a:rPr sz="1400" b="0">
                <a:solidFill>
                  <a:srgbClr val="9D9B98"/>
                </a:solidFill>
                <a:latin typeface="Segoe UI" panose="020B0502040204020203"/>
              </a:rPr>
              <a:t>modo demo con datos estáticos; la cabecera dice si estás «En vivo · modelo», «En vivo» o «Demo».</a:t>
            </a:r>
            <a:endParaRPr sz="14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FF5A36"/>
                </a:solidFill>
                <a:latin typeface="Segoe UI" panose="020B0502040204020203"/>
              </a:rPr>
              <a:t>—  </a:t>
            </a:r>
            <a:r>
              <a:rPr sz="1500" b="1">
                <a:solidFill>
                  <a:srgbClr val="F5F0E8"/>
                </a:solidFill>
                <a:latin typeface="Segoe UI" panose="020B0502040204020203"/>
              </a:rPr>
              <a:t>Escalable a otras ciudades.  </a:t>
            </a:r>
            <a:r>
              <a:rPr sz="1400" b="0">
                <a:solidFill>
                  <a:srgbClr val="9D9B98"/>
                </a:solidFill>
                <a:latin typeface="Segoe UI" panose="020B0502040204020203"/>
              </a:rPr>
              <a:t>nada del backend está atado a Cali: cambiar los Excel de 01_raw re-entrena todo.</a:t>
            </a:r>
            <a:endParaRPr sz="1400" b="0">
              <a:solidFill>
                <a:srgbClr val="9D9B98"/>
              </a:solidFill>
              <a:latin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9D9B98"/>
                </a:solidFill>
                <a:latin typeface="Segoe UI" panose="020B0502040204020203"/>
              </a:rPr>
              <a:t>Pilas</a:t>
            </a:r>
            <a:r>
              <a:rPr sz="1100" b="0">
                <a:solidFill>
                  <a:srgbClr val="5E5D5C"/>
                </a:solidFill>
                <a:latin typeface="Segoe UI" panose="020B0502040204020203"/>
              </a:rPr>
              <a:t>  ·  Datos al Ecosistema 2026 — MinTIC  ·  Cali</a:t>
            </a:r>
            <a:endParaRPr sz="1100" b="0">
              <a:solidFill>
                <a:srgbClr val="5E5D5C"/>
              </a:solidFill>
              <a:latin typeface="Segoe UI" panose="020B05020402040202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91495" y="641908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E5D5C"/>
                </a:solidFill>
                <a:latin typeface="Segoe UI" panose="020B0502040204020203"/>
              </a:rPr>
              <a:t>08</a:t>
            </a:r>
            <a:endParaRPr sz="1100" b="0">
              <a:solidFill>
                <a:srgbClr val="5E5D5C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5A36"/>
                </a:solidFill>
                <a:latin typeface="Segoe UI" panose="020B0502040204020203"/>
              </a:rPr>
              <a:t>IA RESPONSABLE</a:t>
            </a:r>
            <a:endParaRPr sz="1300" b="1">
              <a:solidFill>
                <a:srgbClr val="FF5A36"/>
              </a:solidFill>
              <a:latin typeface="Segoe UI" panose="020B05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5F0E8"/>
                </a:solidFill>
                <a:latin typeface="Segoe UI" panose="020B0502040204020203"/>
              </a:rPr>
              <a:t>Diseñado para no estigmatizar ni vigilar</a:t>
            </a:r>
            <a:endParaRPr sz="3400" b="1">
              <a:solidFill>
                <a:srgbClr val="F5F0E8"/>
              </a:solidFill>
              <a:latin typeface="Segoe UI" panose="020B050204020402020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820095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FF5A36"/>
                </a:solidFill>
                <a:latin typeface="Segoe UI" panose="020B0502040204020203"/>
              </a:rPr>
              <a:t>—  </a:t>
            </a:r>
            <a:r>
              <a:rPr sz="1600" b="1">
                <a:solidFill>
                  <a:srgbClr val="F5F0E8"/>
                </a:solidFill>
                <a:latin typeface="Segoe UI" panose="020B0502040204020203"/>
              </a:rPr>
              <a:t>Nivel de atención, no peligrosidad.  </a:t>
            </a:r>
            <a:r>
              <a:rPr sz="1500" b="0">
                <a:solidFill>
                  <a:srgbClr val="9D9B98"/>
                </a:solidFill>
                <a:latin typeface="Segoe UI" panose="020B0502040204020203"/>
              </a:rPr>
              <a:t>el lenguaje y la paleta «batería» hablan de cuánta atención requiere una zona a una hora — nunca de qué tan «mala» es su gente.</a:t>
            </a:r>
            <a:endParaRPr sz="15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FF5A36"/>
                </a:solidFill>
                <a:latin typeface="Segoe UI" panose="020B0502040204020203"/>
              </a:rPr>
              <a:t>—  </a:t>
            </a:r>
            <a:r>
              <a:rPr sz="1600" b="1">
                <a:solidFill>
                  <a:srgbClr val="F5F0E8"/>
                </a:solidFill>
                <a:latin typeface="Segoe UI" panose="020B0502040204020203"/>
              </a:rPr>
              <a:t>Escala relativa por hora.  </a:t>
            </a:r>
            <a:r>
              <a:rPr sz="1500" b="0">
                <a:solidFill>
                  <a:srgbClr val="9D9B98"/>
                </a:solidFill>
                <a:latin typeface="Segoe UI" panose="020B0502040204020203"/>
              </a:rPr>
              <a:t>cuartiles entre comunas para que ningún territorio quede clavado en el color máximo 24/7.</a:t>
            </a:r>
            <a:endParaRPr sz="15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FF5A36"/>
                </a:solidFill>
                <a:latin typeface="Segoe UI" panose="020B0502040204020203"/>
              </a:rPr>
              <a:t>—  </a:t>
            </a:r>
            <a:r>
              <a:rPr sz="1600" b="1">
                <a:solidFill>
                  <a:srgbClr val="F5F0E8"/>
                </a:solidFill>
                <a:latin typeface="Segoe UI" panose="020B0502040204020203"/>
              </a:rPr>
              <a:t>Explicabilidad visible.  </a:t>
            </a:r>
            <a:r>
              <a:rPr sz="1500" b="0">
                <a:solidFill>
                  <a:srgbClr val="9D9B98"/>
                </a:solidFill>
                <a:latin typeface="Segoe UI" panose="020B0502040204020203"/>
              </a:rPr>
              <a:t>SHAP en la interfaz: cada estimación muestra sus factores (hora, día, comuna, festivo).</a:t>
            </a:r>
            <a:endParaRPr sz="15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FF5A36"/>
                </a:solidFill>
                <a:latin typeface="Segoe UI" panose="020B0502040204020203"/>
              </a:rPr>
              <a:t>—  </a:t>
            </a:r>
            <a:r>
              <a:rPr sz="1600" b="1">
                <a:solidFill>
                  <a:srgbClr val="F5F0E8"/>
                </a:solidFill>
                <a:latin typeface="Segoe UI" panose="020B0502040204020203"/>
              </a:rPr>
              <a:t>Privacidad.  </a:t>
            </a:r>
            <a:r>
              <a:rPr sz="1500" b="0">
                <a:solidFill>
                  <a:srgbClr val="9D9B98"/>
                </a:solidFill>
                <a:latin typeface="Segoe UI" panose="020B0502040204020203"/>
              </a:rPr>
              <a:t>solo agregados espacio-temporales; sin registros individuales, sin datos personales, sin cámaras.</a:t>
            </a:r>
            <a:endParaRPr sz="15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FF5A36"/>
                </a:solidFill>
                <a:latin typeface="Segoe UI" panose="020B0502040204020203"/>
              </a:rPr>
              <a:t>—  </a:t>
            </a:r>
            <a:r>
              <a:rPr sz="1600" b="1">
                <a:solidFill>
                  <a:srgbClr val="F5F0E8"/>
                </a:solidFill>
                <a:latin typeface="Segoe UI" panose="020B0502040204020203"/>
              </a:rPr>
              <a:t>Trazabilidad.  </a:t>
            </a:r>
            <a:r>
              <a:rPr sz="1500" b="0">
                <a:solidFill>
                  <a:srgbClr val="9D9B98"/>
                </a:solidFill>
                <a:latin typeface="Segoe UI" panose="020B0502040204020203"/>
              </a:rPr>
              <a:t>fuentes citadas en la app y en docs/fuentes_datos.md; métricas del modelo públicas en /metrics.</a:t>
            </a:r>
            <a:endParaRPr sz="1500" b="0">
              <a:solidFill>
                <a:srgbClr val="9D9B98"/>
              </a:solidFill>
              <a:latin typeface="Segoe UI" panose="020B0502040204020203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9D9B98"/>
                </a:solidFill>
                <a:latin typeface="Segoe UI" panose="020B0502040204020203"/>
              </a:rPr>
              <a:t>Pilas</a:t>
            </a:r>
            <a:r>
              <a:rPr sz="1100" b="0">
                <a:solidFill>
                  <a:srgbClr val="5E5D5C"/>
                </a:solidFill>
                <a:latin typeface="Segoe UI" panose="020B0502040204020203"/>
              </a:rPr>
              <a:t>  ·  Datos al Ecosistema 2026 — MinTIC  ·  Cali</a:t>
            </a:r>
            <a:endParaRPr sz="1100" b="0">
              <a:solidFill>
                <a:srgbClr val="5E5D5C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591495" y="641908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E5D5C"/>
                </a:solidFill>
                <a:latin typeface="Segoe UI" panose="020B0502040204020203"/>
              </a:rPr>
              <a:t>09</a:t>
            </a:r>
            <a:endParaRPr sz="1100" b="0">
              <a:solidFill>
                <a:srgbClr val="5E5D5C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5A36"/>
                </a:solidFill>
                <a:latin typeface="Segoe UI" panose="020B0502040204020203"/>
              </a:rPr>
              <a:t>HONESTIDAD TÉCNICA</a:t>
            </a:r>
            <a:endParaRPr sz="1300" b="1">
              <a:solidFill>
                <a:srgbClr val="FF5A36"/>
              </a:solidFill>
              <a:latin typeface="Segoe UI" panose="020B05020402040202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868680"/>
            <a:ext cx="108200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>
                <a:solidFill>
                  <a:srgbClr val="F5F0E8"/>
                </a:solidFill>
                <a:latin typeface="Segoe UI" panose="020B0502040204020203"/>
              </a:rPr>
              <a:t>Limitaciones y próximos pasos</a:t>
            </a:r>
            <a:endParaRPr sz="3400" b="1">
              <a:solidFill>
                <a:srgbClr val="F5F0E8"/>
              </a:solidFill>
              <a:latin typeface="Segoe UI" panose="020B0502040204020203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5272887" cy="3291840"/>
          </a:xfrm>
          <a:prstGeom prst="roundRect">
            <a:avLst>
              <a:gd name="adj" fmla="val 6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47242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B454"/>
                </a:solidFill>
                <a:latin typeface="Segoe UI" panose="020B0502040204020203"/>
              </a:rPr>
              <a:t>Limitaciones actuales</a:t>
            </a:r>
            <a:endParaRPr sz="1700" b="1">
              <a:solidFill>
                <a:srgbClr val="FFB454"/>
              </a:solidFill>
              <a:latin typeface="Segoe UI" panose="020B05020402040202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60120" y="2560320"/>
            <a:ext cx="4724247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5E5D5C"/>
                </a:solidFill>
                <a:latin typeface="Segoe UI" panose="020B0502040204020203"/>
              </a:rPr>
              <a:t>—  </a:t>
            </a:r>
            <a:r>
              <a:rPr sz="1400" b="0">
                <a:solidFill>
                  <a:srgbClr val="F5F0E8"/>
                </a:solidFill>
                <a:latin typeface="Segoe UI" panose="020B0502040204020203"/>
              </a:rPr>
              <a:t>Granularidad a nivel de comuna (sin georreferenciación fina)</a:t>
            </a:r>
            <a:endParaRPr sz="1400" b="0">
              <a:solidFill>
                <a:srgbClr val="F5F0E8"/>
              </a:solidFill>
              <a:latin typeface="Segoe UI" panose="020B0502040204020203"/>
            </a:endParaRP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5E5D5C"/>
                </a:solidFill>
                <a:latin typeface="Segoe UI" panose="020B0502040204020203"/>
              </a:rPr>
              <a:t>—  </a:t>
            </a:r>
            <a:r>
              <a:rPr sz="1400" b="0">
                <a:solidFill>
                  <a:srgbClr val="F5F0E8"/>
                </a:solidFill>
                <a:latin typeface="Segoe UI" panose="020B0502040204020203"/>
              </a:rPr>
              <a:t>Solo hurtos: homicidios y lesiones aún sin bases (SIJIN/ML)</a:t>
            </a:r>
            <a:endParaRPr sz="1400" b="0">
              <a:solidFill>
                <a:srgbClr val="F5F0E8"/>
              </a:solidFill>
              <a:latin typeface="Segoe UI" panose="020B0502040204020203"/>
            </a:endParaRP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5E5D5C"/>
                </a:solidFill>
                <a:latin typeface="Segoe UI" panose="020B0502040204020203"/>
              </a:rPr>
              <a:t>—  </a:t>
            </a:r>
            <a:r>
              <a:rPr sz="1400" b="0">
                <a:solidFill>
                  <a:srgbClr val="F5F0E8"/>
                </a:solidFill>
                <a:latin typeface="Segoe UI" panose="020B0502040204020203"/>
              </a:rPr>
              <a:t>Sesgo de denuncia: mide denuncias, no criminalidad total</a:t>
            </a:r>
            <a:endParaRPr sz="1400" b="0">
              <a:solidFill>
                <a:srgbClr val="F5F0E8"/>
              </a:solidFill>
              <a:latin typeface="Segoe UI" panose="020B0502040204020203"/>
            </a:endParaRP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5E5D5C"/>
                </a:solidFill>
                <a:latin typeface="Segoe UI" panose="020B0502040204020203"/>
              </a:rPr>
              <a:t>—  </a:t>
            </a:r>
            <a:r>
              <a:rPr sz="1400" b="0">
                <a:solidFill>
                  <a:srgbClr val="F5F0E8"/>
                </a:solidFill>
                <a:latin typeface="Segoe UI" panose="020B0502040204020203"/>
              </a:rPr>
              <a:t>Validación con usuarios todavía pendiente</a:t>
            </a:r>
            <a:endParaRPr sz="1400" b="0">
              <a:solidFill>
                <a:srgbClr val="F5F0E8"/>
              </a:solidFill>
              <a:latin typeface="Segoe UI" panose="020B0502040204020203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33007" y="1828800"/>
            <a:ext cx="5272887" cy="3291840"/>
          </a:xfrm>
          <a:prstGeom prst="roundRect">
            <a:avLst>
              <a:gd name="adj" fmla="val 6000"/>
            </a:avLst>
          </a:prstGeom>
          <a:solidFill>
            <a:srgbClr val="17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057400"/>
            <a:ext cx="47242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FF5A36"/>
                </a:solidFill>
                <a:latin typeface="Segoe UI" panose="020B0502040204020203"/>
              </a:rPr>
              <a:t>Siguientes pasos</a:t>
            </a:r>
            <a:endParaRPr sz="1700" b="1">
              <a:solidFill>
                <a:srgbClr val="FF5A36"/>
              </a:solidFill>
              <a:latin typeface="Segoe UI" panose="020B05020402040202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07327" y="2560320"/>
            <a:ext cx="4724247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5E5D5C"/>
                </a:solidFill>
                <a:latin typeface="Segoe UI" panose="020B0502040204020203"/>
              </a:rPr>
              <a:t>—  </a:t>
            </a:r>
            <a:r>
              <a:rPr sz="1400" b="0">
                <a:solidFill>
                  <a:srgbClr val="F5F0E8"/>
                </a:solidFill>
                <a:latin typeface="Segoe UI" panose="020B0502040204020203"/>
              </a:rPr>
              <a:t>Hexágonos H3 + features espaciales (CAI, alumbrado, densidad)</a:t>
            </a:r>
            <a:endParaRPr sz="1400" b="0">
              <a:solidFill>
                <a:srgbClr val="F5F0E8"/>
              </a:solidFill>
              <a:latin typeface="Segoe UI" panose="020B0502040204020203"/>
            </a:endParaRP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5E5D5C"/>
                </a:solidFill>
                <a:latin typeface="Segoe UI" panose="020B0502040204020203"/>
              </a:rPr>
              <a:t>—  </a:t>
            </a:r>
            <a:r>
              <a:rPr sz="1400" b="0">
                <a:solidFill>
                  <a:srgbClr val="F5F0E8"/>
                </a:solidFill>
                <a:latin typeface="Segoe UI" panose="020B0502040204020203"/>
              </a:rPr>
              <a:t>Integrar SIJIN / Medicina Legal (la tubería ya está lista)</a:t>
            </a:r>
            <a:endParaRPr sz="1400" b="0">
              <a:solidFill>
                <a:srgbClr val="F5F0E8"/>
              </a:solidFill>
              <a:latin typeface="Segoe UI" panose="020B0502040204020203"/>
            </a:endParaRP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5E5D5C"/>
                </a:solidFill>
                <a:latin typeface="Segoe UI" panose="020B0502040204020203"/>
              </a:rPr>
              <a:t>—  </a:t>
            </a:r>
            <a:r>
              <a:rPr sz="1400" b="0">
                <a:solidFill>
                  <a:srgbClr val="F5F0E8"/>
                </a:solidFill>
                <a:latin typeface="Segoe UI" panose="020B0502040204020203"/>
              </a:rPr>
              <a:t>MLflow para versionar experimentos y re-entrenos programados</a:t>
            </a:r>
            <a:endParaRPr sz="1400" b="0">
              <a:solidFill>
                <a:srgbClr val="F5F0E8"/>
              </a:solidFill>
              <a:latin typeface="Segoe UI" panose="020B0502040204020203"/>
            </a:endParaRP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400" b="1">
                <a:solidFill>
                  <a:srgbClr val="5E5D5C"/>
                </a:solidFill>
                <a:latin typeface="Segoe UI" panose="020B0502040204020203"/>
              </a:rPr>
              <a:t>—  </a:t>
            </a:r>
            <a:r>
              <a:rPr sz="1400" b="0">
                <a:solidFill>
                  <a:srgbClr val="F5F0E8"/>
                </a:solidFill>
                <a:latin typeface="Segoe UI" panose="020B0502040204020203"/>
              </a:rPr>
              <a:t>Entrevistas con ciudadanos, turistas y Secretaría de Seguridad</a:t>
            </a:r>
            <a:endParaRPr sz="1400" b="0">
              <a:solidFill>
                <a:srgbClr val="F5F0E8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9D9B98"/>
                </a:solidFill>
                <a:latin typeface="Segoe UI" panose="020B0502040204020203"/>
              </a:rPr>
              <a:t>Pilas</a:t>
            </a:r>
            <a:r>
              <a:rPr sz="1100" b="0">
                <a:solidFill>
                  <a:srgbClr val="5E5D5C"/>
                </a:solidFill>
                <a:latin typeface="Segoe UI" panose="020B0502040204020203"/>
              </a:rPr>
              <a:t>  ·  Datos al Ecosistema 2026 — MinTIC  ·  Cali</a:t>
            </a:r>
            <a:endParaRPr sz="1100" b="0">
              <a:solidFill>
                <a:srgbClr val="5E5D5C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91495" y="641908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5E5D5C"/>
                </a:solidFill>
                <a:latin typeface="Segoe UI" panose="020B0502040204020203"/>
              </a:rPr>
              <a:t>10</a:t>
            </a:r>
            <a:endParaRPr sz="1100" b="0">
              <a:solidFill>
                <a:srgbClr val="5E5D5C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1005840"/>
            <a:ext cx="1156716" cy="523036"/>
          </a:xfrm>
          <a:prstGeom prst="roundRect">
            <a:avLst>
              <a:gd name="adj" fmla="val 25000"/>
            </a:avLst>
          </a:prstGeom>
          <a:solidFill>
            <a:srgbClr val="0E1116"/>
          </a:solidFill>
          <a:ln w="30734">
            <a:solidFill>
              <a:srgbClr val="F5F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87778" y="1166774"/>
            <a:ext cx="90525" cy="201168"/>
          </a:xfrm>
          <a:prstGeom prst="roundRect">
            <a:avLst>
              <a:gd name="adj" fmla="val 40000"/>
            </a:avLst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1238" y="1081278"/>
            <a:ext cx="217513" cy="372160"/>
          </a:xfrm>
          <a:prstGeom prst="rect">
            <a:avLst/>
          </a:prstGeom>
          <a:solidFill>
            <a:srgbClr val="7BC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24013" y="1081278"/>
            <a:ext cx="217513" cy="372160"/>
          </a:xfrm>
          <a:prstGeom prst="rect">
            <a:avLst/>
          </a:prstGeom>
          <a:solidFill>
            <a:srgbClr val="C9C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6788" y="1081278"/>
            <a:ext cx="217513" cy="372160"/>
          </a:xfrm>
          <a:prstGeom prst="rect">
            <a:avLst/>
          </a:prstGeom>
          <a:solidFill>
            <a:srgbClr val="FF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49563" y="1081278"/>
            <a:ext cx="217513" cy="372160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0820095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>
                <a:solidFill>
                  <a:srgbClr val="F5F0E8"/>
                </a:solidFill>
                <a:latin typeface="Segoe UI" panose="020B0502040204020203"/>
              </a:rPr>
              <a:t>Pilas: que los datos abiertos</a:t>
            </a:r>
            <a:endParaRPr sz="4000" b="1">
              <a:solidFill>
                <a:srgbClr val="F5F0E8"/>
              </a:solidFill>
              <a:latin typeface="Segoe UI" panose="020B0502040204020203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000" b="1">
                <a:solidFill>
                  <a:srgbClr val="F5F0E8"/>
                </a:solidFill>
                <a:latin typeface="Segoe UI" panose="020B0502040204020203"/>
              </a:rPr>
              <a:t>le sirvan a quien camina la ciudad.</a:t>
            </a:r>
            <a:endParaRPr sz="4000" b="1">
              <a:solidFill>
                <a:srgbClr val="F5F0E8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379476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F5F0E8"/>
                </a:solidFill>
                <a:latin typeface="Segoe UI" panose="020B0502040204020203"/>
              </a:rPr>
              <a:t>Repositorio reproducible:  </a:t>
            </a:r>
            <a:r>
              <a:rPr sz="1600" b="0">
                <a:solidFill>
                  <a:srgbClr val="9D9B98"/>
                </a:solidFill>
                <a:latin typeface="Segoe UI" panose="020B0502040204020203"/>
              </a:rPr>
              <a:t>docs/ · data/ · notebooks/ · pipelines/ · tests/ · CI — licencia MIT.</a:t>
            </a:r>
            <a:endParaRPr sz="16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F5F0E8"/>
                </a:solidFill>
                <a:latin typeface="Segoe UI" panose="020B0502040204020203"/>
              </a:rPr>
              <a:t>Demo:  </a:t>
            </a:r>
            <a:r>
              <a:rPr sz="1600" b="0">
                <a:solidFill>
                  <a:srgbClr val="9D9B98"/>
                </a:solidFill>
                <a:latin typeface="Segoe UI" panose="020B0502040204020203"/>
              </a:rPr>
              <a:t>pilas-ten.vercel.app  ·  API en Render con el modelo en vivo.</a:t>
            </a:r>
            <a:endParaRPr sz="1600" b="0">
              <a:solidFill>
                <a:srgbClr val="9D9B98"/>
              </a:solidFill>
              <a:latin typeface="Segoe UI" panose="020B0502040204020203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53949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5F0E8"/>
                </a:solidFill>
                <a:latin typeface="Segoe UI" panose="020B0502040204020203"/>
              </a:rPr>
              <a:t>Catherine Nicol Ortega  ·  Zharick Valeria Fernandez  ·  Santiago Ruiz Vanegas  ·  Juan Felipe Delgado</a:t>
            </a:r>
            <a:endParaRPr sz="1500" b="1">
              <a:solidFill>
                <a:srgbClr val="F5F0E8"/>
              </a:solidFill>
              <a:latin typeface="Segoe UI" panose="020B0502040204020203"/>
            </a:endParaRP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F5A36"/>
                </a:solidFill>
                <a:latin typeface="Segoe UI" panose="020B0502040204020203"/>
              </a:rPr>
              <a:t>¡Gracias! — Preguntas bienvenidas.</a:t>
            </a:r>
            <a:endParaRPr sz="1400" b="1">
              <a:solidFill>
                <a:srgbClr val="FF5A36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8528685" cy="5797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s-CO" sz="2400" b="1">
                <a:solidFill>
                  <a:srgbClr val="F5F0E8"/>
                </a:solidFill>
                <a:latin typeface="Segoe UI" panose="020B0502040204020203"/>
              </a:rPr>
              <a:t>Enlaces</a:t>
            </a:r>
            <a:endParaRPr lang="es-CO" sz="2400" b="1">
              <a:solidFill>
                <a:srgbClr val="F5F0E8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991235"/>
            <a:ext cx="10515600" cy="6558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lang="en-US" altLang="es-ES" sz="1600" b="1">
                <a:solidFill>
                  <a:srgbClr val="9D9B98"/>
                </a:solidFill>
                <a:latin typeface="Segoe UI" panose="020B0502040204020203"/>
              </a:rPr>
              <a:t>Registro de conflictividades en el Municipio de Santiago de Cali de 2010 al 2019</a:t>
            </a:r>
            <a:r>
              <a:rPr lang="es-CO" altLang="en-US" sz="1600" b="1">
                <a:solidFill>
                  <a:srgbClr val="9D9B98"/>
                </a:solidFill>
                <a:latin typeface="Segoe UI" panose="020B0502040204020203"/>
              </a:rPr>
              <a:t> </a:t>
            </a:r>
            <a:br>
              <a:rPr lang="es-CO" altLang="en-US" sz="1600" b="0">
                <a:solidFill>
                  <a:srgbClr val="9D9B98"/>
                </a:solidFill>
                <a:latin typeface="Segoe UI" panose="020B0502040204020203"/>
              </a:rPr>
            </a:br>
            <a:r>
              <a:rPr lang="en-US" altLang="es-ES" sz="1600" b="0">
                <a:solidFill>
                  <a:srgbClr val="9D9B98"/>
                </a:solidFill>
                <a:latin typeface="Segoe UI" panose="020B0502040204020203"/>
              </a:rPr>
              <a:t>https://www.datos.gov.co/d/v9m4-rxds</a:t>
            </a:r>
            <a:endParaRPr lang="en-US" altLang="es-ES" sz="16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altLang="es-ES" sz="16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lang="es-CO" altLang="en-US" sz="1600" b="1">
                <a:solidFill>
                  <a:srgbClr val="9D9B98"/>
                </a:solidFill>
                <a:latin typeface="Segoe UI" panose="020B0502040204020203"/>
              </a:rPr>
              <a:t>Hurto a persona / Policía Nacional 2016-2026</a:t>
            </a:r>
            <a:br>
              <a:rPr lang="es-CO" altLang="en-US" sz="1600" b="0">
                <a:solidFill>
                  <a:srgbClr val="9D9B98"/>
                </a:solidFill>
                <a:latin typeface="Segoe UI" panose="020B0502040204020203"/>
              </a:rPr>
            </a:br>
            <a:r>
              <a:rPr lang="en-US" altLang="es-ES" sz="1600" b="0">
                <a:solidFill>
                  <a:srgbClr val="9D9B98"/>
                </a:solidFill>
                <a:latin typeface="Segoe UI" panose="020B0502040204020203"/>
              </a:rPr>
              <a:t>https://portalsiedco.policia.gov.co:4443/extensions/PortalPublico/index.html#/Indicadores/Delito</a:t>
            </a:r>
            <a:endParaRPr lang="en-US" altLang="es-ES" sz="16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altLang="es-ES" sz="16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lang="en-US" altLang="es-ES" sz="1600" b="1">
                <a:solidFill>
                  <a:srgbClr val="9D9B98"/>
                </a:solidFill>
                <a:latin typeface="Segoe UI" panose="020B0502040204020203"/>
              </a:rPr>
              <a:t>Eventos de violencia de g</a:t>
            </a:r>
            <a:r>
              <a:rPr lang="en-US" altLang="en-US" sz="1600" b="1">
                <a:solidFill>
                  <a:srgbClr val="9D9B98"/>
                </a:solidFill>
                <a:latin typeface="Segoe UI" panose="020B0502040204020203"/>
              </a:rPr>
              <a:t>é</a:t>
            </a:r>
            <a:r>
              <a:rPr lang="en-US" altLang="es-ES" sz="1600" b="1">
                <a:solidFill>
                  <a:srgbClr val="9D9B98"/>
                </a:solidFill>
                <a:latin typeface="Segoe UI" panose="020B0502040204020203"/>
              </a:rPr>
              <a:t>nero en Santiago de Cali</a:t>
            </a:r>
            <a:endParaRPr lang="en-US" altLang="es-ES" sz="1600" b="1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lang="en-US" altLang="es-ES" sz="1600" b="0">
                <a:solidFill>
                  <a:srgbClr val="9D9B98"/>
                </a:solidFill>
                <a:latin typeface="Segoe UI" panose="020B0502040204020203"/>
              </a:rPr>
              <a:t>https://www.datos.gov.co/d/mtk4-922d</a:t>
            </a:r>
            <a:endParaRPr lang="en-US" altLang="es-ES" sz="16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endParaRPr lang="en-US" altLang="es-ES" sz="1600" b="1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lang="en-US" altLang="es-ES" sz="1600" b="1">
                <a:solidFill>
                  <a:srgbClr val="9D9B98"/>
                </a:solidFill>
                <a:latin typeface="Segoe UI" panose="020B0502040204020203"/>
              </a:rPr>
              <a:t>Inspecciones de polic</a:t>
            </a:r>
            <a:r>
              <a:rPr lang="en-US" altLang="en-US" sz="1600" b="1">
                <a:solidFill>
                  <a:srgbClr val="9D9B98"/>
                </a:solidFill>
                <a:latin typeface="Segoe UI" panose="020B0502040204020203"/>
              </a:rPr>
              <a:t>í</a:t>
            </a:r>
            <a:r>
              <a:rPr lang="en-US" altLang="es-ES" sz="1600" b="1">
                <a:solidFill>
                  <a:srgbClr val="9D9B98"/>
                </a:solidFill>
                <a:latin typeface="Segoe UI" panose="020B0502040204020203"/>
              </a:rPr>
              <a:t>a urbana de categor</a:t>
            </a:r>
            <a:r>
              <a:rPr lang="en-US" altLang="en-US" sz="1600" b="1">
                <a:solidFill>
                  <a:srgbClr val="9D9B98"/>
                </a:solidFill>
                <a:latin typeface="Segoe UI" panose="020B0502040204020203"/>
              </a:rPr>
              <a:t>í</a:t>
            </a:r>
            <a:r>
              <a:rPr lang="en-US" altLang="es-ES" sz="1600" b="1">
                <a:solidFill>
                  <a:srgbClr val="9D9B98"/>
                </a:solidFill>
                <a:latin typeface="Segoe UI" panose="020B0502040204020203"/>
              </a:rPr>
              <a:t>a especial y comisar</a:t>
            </a:r>
            <a:r>
              <a:rPr lang="en-US" altLang="en-US" sz="1600" b="1">
                <a:solidFill>
                  <a:srgbClr val="9D9B98"/>
                </a:solidFill>
                <a:latin typeface="Segoe UI" panose="020B0502040204020203"/>
              </a:rPr>
              <a:t>í</a:t>
            </a:r>
            <a:r>
              <a:rPr lang="en-US" altLang="es-ES" sz="1600" b="1">
                <a:solidFill>
                  <a:srgbClr val="9D9B98"/>
                </a:solidFill>
                <a:latin typeface="Segoe UI" panose="020B0502040204020203"/>
              </a:rPr>
              <a:t>as de familia en Cali</a:t>
            </a:r>
            <a:endParaRPr lang="en-US" altLang="es-ES" sz="1600" b="1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lang="en-US" altLang="es-ES" sz="1600" b="0">
                <a:solidFill>
                  <a:srgbClr val="9D9B98"/>
                </a:solidFill>
                <a:latin typeface="Segoe UI" panose="020B0502040204020203"/>
              </a:rPr>
              <a:t>https://datos.cali.gov.co/dataset/d30b27f3-d01d-46dd-b6bd-0682a9c4cada/resource/6b00e2ed-0479-4275-a95e-89d1bc459f00/download/inspecciones_de_polic_a__de_comisi_n_civil__superior_y_comisar_as_de_familia_2018.csv</a:t>
            </a:r>
            <a:endParaRPr lang="en-US" altLang="es-ES" sz="16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altLang="es-ES" sz="16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lang="en-US" altLang="es-ES" sz="1600" b="1">
                <a:solidFill>
                  <a:srgbClr val="9D9B98"/>
                </a:solidFill>
                <a:latin typeface="Segoe UI" panose="020B0502040204020203"/>
              </a:rPr>
              <a:t>Directorio de cuadrantes de Metropolitanas y Departamentos de Polic</a:t>
            </a:r>
            <a:r>
              <a:rPr lang="en-US" altLang="en-US" sz="1600" b="1">
                <a:solidFill>
                  <a:srgbClr val="9D9B98"/>
                </a:solidFill>
                <a:latin typeface="Segoe UI" panose="020B0502040204020203"/>
              </a:rPr>
              <a:t>í</a:t>
            </a:r>
            <a:r>
              <a:rPr lang="en-US" altLang="es-ES" sz="1600" b="1">
                <a:solidFill>
                  <a:srgbClr val="9D9B98"/>
                </a:solidFill>
                <a:latin typeface="Segoe UI" panose="020B0502040204020203"/>
              </a:rPr>
              <a:t>a</a:t>
            </a:r>
            <a:endParaRPr lang="en-US" altLang="es-ES" sz="1600" b="1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lang="en-US" altLang="es-ES" sz="1600" b="1">
                <a:solidFill>
                  <a:srgbClr val="9D9B98"/>
                </a:solidFill>
                <a:latin typeface="Segoe UI" panose="020B0502040204020203"/>
              </a:rPr>
              <a:t>Funci</a:t>
            </a:r>
            <a:r>
              <a:rPr lang="en-US" altLang="en-US" sz="1600" b="1">
                <a:solidFill>
                  <a:srgbClr val="9D9B98"/>
                </a:solidFill>
                <a:latin typeface="Segoe UI" panose="020B0502040204020203"/>
              </a:rPr>
              <a:t>ó</a:t>
            </a:r>
            <a:r>
              <a:rPr lang="en-US" altLang="es-ES" sz="1600" b="1">
                <a:solidFill>
                  <a:srgbClr val="9D9B98"/>
                </a:solidFill>
                <a:latin typeface="Segoe UI" panose="020B0502040204020203"/>
              </a:rPr>
              <a:t>n P</a:t>
            </a:r>
            <a:r>
              <a:rPr lang="en-US" altLang="en-US" sz="1600" b="1">
                <a:solidFill>
                  <a:srgbClr val="9D9B98"/>
                </a:solidFill>
                <a:latin typeface="Segoe UI" panose="020B0502040204020203"/>
              </a:rPr>
              <a:t>ú</a:t>
            </a:r>
            <a:r>
              <a:rPr lang="en-US" altLang="es-ES" sz="1600" b="1">
                <a:solidFill>
                  <a:srgbClr val="9D9B98"/>
                </a:solidFill>
                <a:latin typeface="Segoe UI" panose="020B0502040204020203"/>
              </a:rPr>
              <a:t>blica</a:t>
            </a:r>
            <a:endParaRPr lang="en-US" altLang="es-ES" sz="1600" b="1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lang="en-US" altLang="es-ES" sz="1600" b="0">
                <a:solidFill>
                  <a:srgbClr val="9D9B98"/>
                </a:solidFill>
                <a:latin typeface="Segoe UI" panose="020B0502040204020203"/>
              </a:rPr>
              <a:t>https://www.datos.gov.co/d/jwvi-unqh</a:t>
            </a:r>
            <a:endParaRPr lang="en-US" altLang="es-ES" sz="16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endParaRPr lang="en-US" altLang="es-ES" sz="16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endParaRPr lang="en-US" altLang="es-ES" sz="16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endParaRPr lang="en-US" altLang="es-ES" sz="1600" b="0">
              <a:solidFill>
                <a:srgbClr val="9D9B98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FF5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1480"/>
            <a:ext cx="8528685" cy="5797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lang="es-CO" sz="2400" b="1">
                <a:solidFill>
                  <a:srgbClr val="F5F0E8"/>
                </a:solidFill>
                <a:latin typeface="Segoe UI" panose="020B0502040204020203"/>
              </a:rPr>
              <a:t>Enlaces</a:t>
            </a:r>
            <a:endParaRPr lang="es-CO" sz="2400" b="1">
              <a:solidFill>
                <a:srgbClr val="F5F0E8"/>
              </a:solidFill>
              <a:latin typeface="Segoe UI" panose="020B05020402040202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991235"/>
            <a:ext cx="10515600" cy="4598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altLang="es-ES" sz="1600" b="1">
                <a:solidFill>
                  <a:srgbClr val="9D9B98"/>
                </a:solidFill>
                <a:latin typeface="Segoe UI" panose="020B0502040204020203"/>
              </a:rPr>
              <a:t>Cuadrantes Cali</a:t>
            </a:r>
            <a:br>
              <a:rPr lang="en-US" altLang="es-ES" sz="1600" b="0">
                <a:solidFill>
                  <a:srgbClr val="9D9B98"/>
                </a:solidFill>
                <a:latin typeface="Segoe UI" panose="020B0502040204020203"/>
              </a:rPr>
            </a:br>
            <a:r>
              <a:rPr lang="en-US" altLang="es-ES" sz="1600" b="0">
                <a:solidFill>
                  <a:srgbClr val="9D9B98"/>
                </a:solidFill>
                <a:latin typeface="Segoe UI" panose="020B0502040204020203"/>
              </a:rPr>
              <a:t>https://www.cali.gov.co/participacion/publicaciones/51752/telfonos-de-los-cuadrantes-de-la-polica-nacional-en-santiago-de-cali/</a:t>
            </a:r>
            <a:endParaRPr lang="en-US" altLang="es-ES" sz="16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altLang="es-ES" sz="16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altLang="es-ES" sz="1600" b="1">
                <a:solidFill>
                  <a:srgbClr val="9D9B98"/>
                </a:solidFill>
                <a:latin typeface="Segoe UI" panose="020B0502040204020203"/>
              </a:rPr>
              <a:t>Servicios de Salud - Red de Salud del Oriente</a:t>
            </a:r>
            <a:endParaRPr lang="en-US" altLang="es-ES" sz="1600" b="1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altLang="es-ES" sz="1600" b="0">
                <a:solidFill>
                  <a:srgbClr val="9D9B98"/>
                </a:solidFill>
                <a:latin typeface="Segoe UI" panose="020B0502040204020203"/>
              </a:rPr>
              <a:t>https://www.datos.gov.co/d/9g6h-b4r7</a:t>
            </a:r>
            <a:endParaRPr lang="en-US" altLang="es-ES" sz="16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altLang="es-ES" sz="1600" b="1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lang="en-US" altLang="es-ES" sz="1600" b="1">
                <a:solidFill>
                  <a:srgbClr val="9D9B98"/>
                </a:solidFill>
                <a:latin typeface="Segoe UI" panose="020B0502040204020203"/>
              </a:rPr>
              <a:t>Directorio de cuadrantes de Metropolitanas y Departamentos de Polic</a:t>
            </a:r>
            <a:r>
              <a:rPr lang="en-US" altLang="en-US" sz="1600" b="1">
                <a:solidFill>
                  <a:srgbClr val="9D9B98"/>
                </a:solidFill>
                <a:latin typeface="Segoe UI" panose="020B0502040204020203"/>
              </a:rPr>
              <a:t>í</a:t>
            </a:r>
            <a:r>
              <a:rPr lang="en-US" altLang="es-ES" sz="1600" b="1">
                <a:solidFill>
                  <a:srgbClr val="9D9B98"/>
                </a:solidFill>
                <a:latin typeface="Segoe UI" panose="020B0502040204020203"/>
              </a:rPr>
              <a:t>a</a:t>
            </a:r>
            <a:endParaRPr lang="en-US" altLang="es-ES" sz="1600" b="1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lang="en-US" altLang="es-ES" sz="1600" b="1">
                <a:solidFill>
                  <a:srgbClr val="9D9B98"/>
                </a:solidFill>
                <a:latin typeface="Segoe UI" panose="020B0502040204020203"/>
              </a:rPr>
              <a:t>Funci</a:t>
            </a:r>
            <a:r>
              <a:rPr lang="en-US" altLang="en-US" sz="1600" b="1">
                <a:solidFill>
                  <a:srgbClr val="9D9B98"/>
                </a:solidFill>
                <a:latin typeface="Segoe UI" panose="020B0502040204020203"/>
              </a:rPr>
              <a:t>ó</a:t>
            </a:r>
            <a:r>
              <a:rPr lang="en-US" altLang="es-ES" sz="1600" b="1">
                <a:solidFill>
                  <a:srgbClr val="9D9B98"/>
                </a:solidFill>
                <a:latin typeface="Segoe UI" panose="020B0502040204020203"/>
              </a:rPr>
              <a:t>n P</a:t>
            </a:r>
            <a:r>
              <a:rPr lang="en-US" altLang="en-US" sz="1600" b="1">
                <a:solidFill>
                  <a:srgbClr val="9D9B98"/>
                </a:solidFill>
                <a:latin typeface="Segoe UI" panose="020B0502040204020203"/>
              </a:rPr>
              <a:t>ú</a:t>
            </a:r>
            <a:r>
              <a:rPr lang="en-US" altLang="es-ES" sz="1600" b="1">
                <a:solidFill>
                  <a:srgbClr val="9D9B98"/>
                </a:solidFill>
                <a:latin typeface="Segoe UI" panose="020B0502040204020203"/>
              </a:rPr>
              <a:t>blica</a:t>
            </a:r>
            <a:endParaRPr lang="en-US" altLang="es-ES" sz="1600" b="1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lang="en-US" altLang="es-ES" sz="1600" b="0">
                <a:solidFill>
                  <a:srgbClr val="9D9B98"/>
                </a:solidFill>
                <a:latin typeface="Segoe UI" panose="020B0502040204020203"/>
              </a:rPr>
              <a:t>https://www.datos.gov.co/d/jwvi-unqh</a:t>
            </a:r>
            <a:endParaRPr lang="en-US" altLang="es-ES" sz="16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endParaRPr lang="en-US" altLang="es-ES" sz="16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lang="en-US" altLang="es-ES" sz="1600" b="1">
                <a:solidFill>
                  <a:srgbClr val="9D9B98"/>
                </a:solidFill>
                <a:latin typeface="Segoe UI" panose="020B0502040204020203"/>
              </a:rPr>
              <a:t>Violencia Intrafamiliar</a:t>
            </a:r>
            <a:endParaRPr lang="en-US" altLang="es-ES" sz="1600" b="1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lang="en-US" altLang="es-ES" sz="1600" b="0">
                <a:solidFill>
                  <a:srgbClr val="9D9B98"/>
                </a:solidFill>
                <a:latin typeface="Segoe UI" panose="020B0502040204020203"/>
              </a:rPr>
              <a:t>https://www.datos.gov.co/d/gepp-dxcs </a:t>
            </a:r>
            <a:endParaRPr lang="en-US" altLang="es-ES" sz="1600" b="0">
              <a:solidFill>
                <a:srgbClr val="9D9B98"/>
              </a:solidFill>
              <a:latin typeface="Segoe UI" panose="020B0502040204020203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endParaRPr lang="en-US" altLang="es-ES" sz="1600" b="0">
              <a:solidFill>
                <a:srgbClr val="9D9B98"/>
              </a:solidFill>
              <a:latin typeface="Segoe UI" panose="020B05020402040202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8355</Words>
  <Application>WPS Presentation</Application>
  <PresentationFormat>On-screen Show (4:3)</PresentationFormat>
  <Paragraphs>265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Arial</vt:lpstr>
      <vt:lpstr>Segoe UI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Juan Delgado</cp:lastModifiedBy>
  <cp:revision>2</cp:revision>
  <dcterms:created xsi:type="dcterms:W3CDTF">2013-01-27T09:14:00Z</dcterms:created>
  <dcterms:modified xsi:type="dcterms:W3CDTF">2026-07-27T15:36:48Z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3082-12.1.0.27458</vt:lpwstr>
  </property>
  <property fmtid="{D5CDD505-2E9C-101B-9397-08002B2CF9AE}" pid="3" name="ICV">
    <vt:lpwstr>36D89699AE9344478DD1F77751B9789F_12</vt:lpwstr>
  </property>
</Properties>
</file>